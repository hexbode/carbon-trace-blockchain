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  <Relationship Id="rId2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各位评审老师好，我汇报的是碳链通，一套面向企业碳排放数据的认证与溯源系统。它把填报、审核、认证、存证、核验五个环节串成一条闭环，认证结论由 FISCO BCOS 联盟链上的 Solidity 合约承载。封面上的三个数字先给一个规模感：后端有七十六个 REST 接口，链上有两个智能合约，接口回归一共六十二项断言并且全部通过。右侧这条链式结构就是全篇的路线图：填报、审核、认证，最后落到不可篡改的区块。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给全篇结论：链上存证让认证结论可以被独立核验。第一条，业务闭环已经打通，当前有五十三个排放记录、五十二张认证记录，四类角色各司其职。第二条，链上状态是唯一依据，五十二张存证里有效五十、已撤销二、已作废零，业务库里的防伪码只作展示回填。第三条，系统可运营也可降级，业务只读接口能到一千三百以上每秒，链上写入大约两秒一笔，失败会重试并生成告警。右侧四个数字分别对应接口、控制器、链上合规规则和回归断言的规模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解释五步闭环。企业先填报，系统用活动数据乘排放因子算出排放量，保留两位小数，并生成十二位电子防伪码。审核端给出通过或驳回，驳回后企业可以重新申请。认证通过后生成认证记录，排放、报告、认证三张表共用同一个编号。随后在事务提交之后调用合约 certify，把认证要素写到链上。最后公众凭防伪码或交易哈希查询，证书状态以链上为准。下方四类角色是每个阶段的参与者和数据边界。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一次认证在数据库和链上分别发生了什么。企业提交填报后，后端写排放记录，数据库触发器自动派生一条待审报告；接着调用合规合约做判定，按返回的规则位掩码生成告警。审核通过后，报告和排放记录状态改为已认证。关键点在这里：链上写入必须等数据库事务提交之后执行，避免事务回滚在链上留下孤儿存证。写链成功后用交易回执回填交易哈希和区块高度；写链失败会自动重试，最终失败生成高危急告警。删除记录不会删除链上数据，只会把存证标记为作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整体分四层。浏览器只和 nginx 通信；nginx 在八十端口托管前端静态资源，并把接口和上传请求反向代理到八零八零。应用层是 Spring Boot，十六个控制器、七十六个接口、十四个服务实现，链上调用统一走 ChainGateway 抽象。数据层是 MySQL，十三张表，不保存任何哈希。联盟链层由 WeBASE-Front 对接 FISCO 节点，后端不引入链 SDK，所有调用都走 REST。WeBASE 的五千零一、五千零二、五千零四，以及 MySQL 和 Redis 都只绑定回环地址，避免无鉴权接口对外暴露。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链上只有两个合约，分工很清楚。存证合约有十四个外部函数，三个治理、三个写、八个读，写操作就是认证、撤销、作废。合规合约有十八个外部函数，负责阈值、配额、期末与年度总量、因子镜像，以及五类判定入口。下半部分这张表是五条规则：配额超限和环比波动是高危，活动数据为零是低危，因子不符和迟报是中危。判定在合约里完成并返回位掩码，告警级别和中文文案由后端生成；链不可用时会回退本地规则，填报流程不中断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存证只有三种状态。有效由认证产生；已撤销由监管发起，是终局，不能复活；已作废由删除排放记录触发，但允许重新认证恢复。核验时先定位链上存证，再用排放编号关联业务库记录，状态永远以链上为准。右侧环形图是当前存量：五十二张存证，有效五十、已撤销二、已作废零。防伪码在合约里以原始字节的哈希建立索引，大小写敏感、精确匹配，所以业务库里的防伪码被改动也不会影响核验结论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数据模型有十三张表，其中十一张业务表，另有两张历史辅助表。核心是三张同号表：排放记录写入时触发器自动派生报告记录，关键字段变化会同步，删除时级联清理。右侧是编号与并发。编号用进程内计数器取号，先在三张同号表的锁内检查占用，再把链上占用检查移到锁外，因为单次链上查询大约两秒。压测时暴露过编号撞主键的问题，修复前六并发只有一个成功，修复后六比六、四比四都成功，十二并发填报总耗时十七点三秒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后端一共七十六个接口，左侧条形图按控制器分布，统计类最多，十五个；用户管理八个；企业和合规各六个。右侧是权限边界：审核只给审核端和管理员，撤销只给监管端和管理员，企业写操作只给企业端和管理员。企业数据隔离由 UserScopes 统一实现，列表强制注入本企业编号，单条读写校验归属，跨企业访问直接返回四零三。防伪码查询、核验和公共公示在免登录白名单里。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安全不是链上合约一个点，而是账号、权限、网络、数据和链上写入的整体收敛。这张表列了八类风险和对策：用户更新走字段白名单防止提权；企业归属校验防止横向越权；密码用 BCrypt 并且只写不读；连续五次失败锁定五分钟；生产用环境变量覆盖 JWT 密钥；链和数据库端口只绑回环；SQL 用参数绑定；链上核验以状态为准并且合约写入受 writer 限制。完成修复后跑了四十九项安全回归，全部通过。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演示环境是可复现的。九个 systemd 服务分别是 nginx、后端、MySQL、WeBASE 的四个服务、FISCO 节点和 Redis。nginx 和后端对外，其余敏感端口只绑回环。Windows 侧双击启动系统脚本，会拉起 WSL 里的 Ubuntu、检查九个服务、等接口就绪后打开浏览器。生产配置放在 opt 目录并且不入库，JWT 密钥走环境变量。启动时和每五分钟会做一次链上与业务库的一致性对账。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质量验证分四块：六十二项接口回归、四十三项功能回归、四十九项安全回归、两轮并发压测，全部通过。右侧是实测数据：公共企业列表二十并发一千三百八十每秒，一百并发一千三百二十四每秒，尾延迟一百毫秒；认证列表一千零九十四每秒；登录一百五十八每秒。链上统计四十并发只有十四点五每秒，防伪核验十七点三每秒，并发填报十二笔用了十七点三秒。结论很清楚：业务读能到一千三百以上，真正的上限是单笔联盟链签名交易大约两秒的固有开销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给三条验收结论。第一，业务闭环完整，填报、审核、认证、作废、核验都有真实数据和接口。第二，链上可信，五十二张存证、二百七十八个区块，有效、撤销、作废的计数与业务库对账一致。第三，工程可复现，systemd 全托管、一键启动，六十二项接口回归和四十九项安全回归都通过。同时要说清三条边界：合约不能原地升级，建库脚本还保留已下线的链表，演示账号仍是统一弱密码。下一步是代理合约与版本化迁移，以及链上事件索引服务。最后一句话：认证结论不靠自证，靠链上可查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arbon-trace-p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arbon-trace-p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cover-title"/>
          <p:cNvGrpSpPr/>
          <p:nvPr/>
        </p:nvGrpSpPr>
        <p:grpSpPr>
          <a:xfrm>
            <a:off x="666750" y="1073150"/>
            <a:ext cx="6438900" cy="3612642"/>
            <a:chOff x="666750" y="1073150"/>
            <a:chExt cx="6438900" cy="3612642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1073150"/>
              <a:ext cx="24756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SYSTEM DESIGN · 2026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6750" y="1606550"/>
              <a:ext cx="6438900" cy="2381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7800"/>
                </a:lnSpc>
              </a:pPr>
              <a:r>
                <a:rPr lang="zh-CN" sz="7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企业碳排放认证</a:t>
              </a:r>
              <a:br>
                <a:rPr lang="zh-CN" sz="7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7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</a:t>
              </a:r>
              <a:r>
                <a:rPr lang="zh-CN" sz="7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溯源</a:t>
              </a:r>
              <a:r>
                <a:rPr lang="zh-CN" sz="7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3608" y="3797300"/>
              <a:ext cx="4946904" cy="888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碳链通 · 基于 FISCO BCOS 联盟链的</a:t>
              </a:r>
              <a:br>
                <a:rPr lang="zh-C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填报—审核—认证—核验平台</a:t>
              </a:r>
            </a:p>
          </p:txBody>
        </p:sp>
      </p:grpSp>
      <p:grpSp>
        <p:nvGrpSpPr>
          <p:cNvPr id="10" name="cover-metrics"/>
          <p:cNvGrpSpPr/>
          <p:nvPr/>
        </p:nvGrpSpPr>
        <p:grpSpPr>
          <a:xfrm>
            <a:off x="669798" y="4902200"/>
            <a:ext cx="7255002" cy="708025"/>
            <a:chOff x="669798" y="4902200"/>
            <a:chExt cx="7255002" cy="708025"/>
          </a:xfrm>
        </p:grpSpPr>
        <p:sp>
          <p:nvSpPr>
            <p:cNvPr id="6" name="TextBox 6"/>
            <p:cNvSpPr txBox="1"/>
            <p:nvPr/>
          </p:nvSpPr>
          <p:spPr>
            <a:xfrm>
              <a:off x="669798" y="4902200"/>
              <a:ext cx="147961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76</a:t>
              </a:r>
              <a:r>
                <a:rPr lang="zh-CN" sz="1350" spc="49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 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REST 接口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146298" y="4902200"/>
              <a:ext cx="111814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  <a:r>
                <a:rPr lang="zh-CN" sz="1350" spc="49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 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智能合约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41798" y="4902200"/>
              <a:ext cx="154477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62</a:t>
              </a:r>
              <a:r>
                <a:rPr lang="zh-CN" sz="1350" spc="49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 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项接口回归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85800" y="5600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9" name="cover-chain"/>
          <p:cNvGrpSpPr/>
          <p:nvPr/>
        </p:nvGrpSpPr>
        <p:grpSpPr>
          <a:xfrm>
            <a:off x="8185404" y="1524000"/>
            <a:ext cx="3179274" cy="3987546"/>
            <a:chOff x="8185404" y="1524000"/>
            <a:chExt cx="3179274" cy="3987546"/>
          </a:xfrm>
        </p:grpSpPr>
        <p:sp>
          <p:nvSpPr>
            <p:cNvPr id="11" name="Line 11"/>
            <p:cNvSpPr/>
            <p:nvPr/>
          </p:nvSpPr>
          <p:spPr>
            <a:xfrm>
              <a:off x="9391650" y="1809750"/>
              <a:ext cx="9525" cy="3143250"/>
            </a:xfrm>
            <a:custGeom>
              <a:avLst/>
              <a:gdLst/>
              <a:ahLst/>
              <a:cxnLst/>
              <a:rect l="l" t="t" r="r" b="b"/>
              <a:pathLst>
                <a:path w="9525" h="3143250">
                  <a:moveTo>
                    <a:pt x="0" y="0"/>
                  </a:moveTo>
                  <a:lnTo>
                    <a:pt x="0" y="31432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grpSp>
          <p:nvGrpSpPr>
            <p:cNvPr id="15" name="cover-node-1"/>
            <p:cNvGrpSpPr/>
            <p:nvPr/>
          </p:nvGrpSpPr>
          <p:grpSpPr>
            <a:xfrm>
              <a:off x="8934450" y="1524000"/>
              <a:ext cx="2430228" cy="571500"/>
              <a:chOff x="8934450" y="1524000"/>
              <a:chExt cx="2430228" cy="5715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8934450" y="1524000"/>
                <a:ext cx="914400" cy="5715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182100" y="169862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填报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051542" y="1711325"/>
                <a:ext cx="13131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活动数据 × 因子</a:t>
                </a:r>
              </a:p>
            </p:txBody>
          </p:sp>
        </p:grpSp>
        <p:grpSp>
          <p:nvGrpSpPr>
            <p:cNvPr id="19" name="cover-node-2"/>
            <p:cNvGrpSpPr/>
            <p:nvPr/>
          </p:nvGrpSpPr>
          <p:grpSpPr>
            <a:xfrm>
              <a:off x="8934450" y="2476500"/>
              <a:ext cx="2066754" cy="571500"/>
              <a:chOff x="8934450" y="2476500"/>
              <a:chExt cx="2066754" cy="5715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8934450" y="2476500"/>
                <a:ext cx="914400" cy="5715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9182100" y="265112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审核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051542" y="2663825"/>
                <a:ext cx="9496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通过 / 驳回</a:t>
                </a:r>
              </a:p>
            </p:txBody>
          </p:sp>
        </p:grpSp>
        <p:grpSp>
          <p:nvGrpSpPr>
            <p:cNvPr id="23" name="cover-node-3"/>
            <p:cNvGrpSpPr/>
            <p:nvPr/>
          </p:nvGrpSpPr>
          <p:grpSpPr>
            <a:xfrm>
              <a:off x="8934450" y="3429000"/>
              <a:ext cx="1857756" cy="571500"/>
              <a:chOff x="8934450" y="3429000"/>
              <a:chExt cx="1857756" cy="5715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8934450" y="3429000"/>
                <a:ext cx="914400" cy="5715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182100" y="360362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认证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051542" y="3616325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三表同号</a:t>
                </a:r>
              </a:p>
            </p:txBody>
          </p:sp>
        </p:grpSp>
        <p:grpSp>
          <p:nvGrpSpPr>
            <p:cNvPr id="27" name="cover-block"/>
            <p:cNvGrpSpPr/>
            <p:nvPr/>
          </p:nvGrpSpPr>
          <p:grpSpPr>
            <a:xfrm>
              <a:off x="8820150" y="4381500"/>
              <a:ext cx="2048256" cy="571500"/>
              <a:chOff x="8820150" y="4381500"/>
              <a:chExt cx="2048256" cy="5715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8820150" y="4381500"/>
                <a:ext cx="1143000" cy="571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182100" y="455612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区块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0127742" y="4568825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不可篡改</a:t>
                </a:r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8185404" y="527685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链上状态是证书真伪的唯一依据</a:t>
              </a:r>
            </a:p>
          </p:txBody>
        </p:sp>
      </p:grpSp>
      <p:grpSp>
        <p:nvGrpSpPr>
          <p:cNvPr id="31" name="cover-meta"/>
          <p:cNvGrpSpPr/>
          <p:nvPr/>
        </p:nvGrpSpPr>
        <p:grpSpPr>
          <a:xfrm>
            <a:off x="679704" y="6134100"/>
            <a:ext cx="3832708" cy="234696"/>
            <a:chOff x="679704" y="6134100"/>
            <a:chExt cx="3832708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679704" y="6134100"/>
              <a:ext cx="38327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v1.0 · 源码基线 054a34a · 2026-10 · 碳链通项目组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69798" y="558800"/>
            <a:ext cx="5968746" cy="933577"/>
            <a:chOff x="669798" y="558800"/>
            <a:chExt cx="5968746" cy="93357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58800"/>
              <a:ext cx="926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结论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6300"/>
              <a:ext cx="59687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链上存证让认证结论</a:t>
              </a:r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可独立核验</a:t>
              </a:r>
            </a:p>
          </p:txBody>
        </p:sp>
      </p:grpSp>
      <p:grpSp>
        <p:nvGrpSpPr>
          <p:cNvPr id="18" name="conclusions"/>
          <p:cNvGrpSpPr/>
          <p:nvPr/>
        </p:nvGrpSpPr>
        <p:grpSpPr>
          <a:xfrm>
            <a:off x="669798" y="1866900"/>
            <a:ext cx="6683502" cy="4117594"/>
            <a:chOff x="669798" y="1866900"/>
            <a:chExt cx="6683502" cy="4117594"/>
          </a:xfrm>
        </p:grpSpPr>
        <p:sp>
          <p:nvSpPr>
            <p:cNvPr id="5" name="Line 5"/>
            <p:cNvSpPr/>
            <p:nvPr/>
          </p:nvSpPr>
          <p:spPr>
            <a:xfrm>
              <a:off x="685800" y="186690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9" name="conclusion-1"/>
            <p:cNvGrpSpPr/>
            <p:nvPr/>
          </p:nvGrpSpPr>
          <p:grpSpPr>
            <a:xfrm>
              <a:off x="669798" y="2006600"/>
              <a:ext cx="5389626" cy="1158494"/>
              <a:chOff x="669798" y="2006600"/>
              <a:chExt cx="5389626" cy="1158494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669798" y="2006600"/>
                <a:ext cx="521785" cy="6160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1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286256" y="212725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业务闭环已打通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286256" y="2470150"/>
                <a:ext cx="4773168" cy="6949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700"/>
                  </a:lnSpc>
                </a:pPr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53 条排放记录、52 张认证记录；企业、审核、</a:t>
                </a:r>
                <a:b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监管、公众四类角色各司其职。</a:t>
                </a:r>
              </a:p>
            </p:txBody>
          </p:sp>
        </p:grpSp>
        <p:grpSp>
          <p:nvGrpSpPr>
            <p:cNvPr id="13" name="conclusion-2"/>
            <p:cNvGrpSpPr/>
            <p:nvPr/>
          </p:nvGrpSpPr>
          <p:grpSpPr>
            <a:xfrm>
              <a:off x="669798" y="3416300"/>
              <a:ext cx="5092446" cy="1158494"/>
              <a:chOff x="669798" y="3416300"/>
              <a:chExt cx="5092446" cy="1158494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669798" y="3416300"/>
                <a:ext cx="521785" cy="6160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1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86256" y="353695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链上状态是唯一依据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286256" y="3879850"/>
                <a:ext cx="4475988" cy="6949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700"/>
                  </a:lnSpc>
                </a:pPr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52 张存证：有效 50、已撤销 2、已作废 0；</a:t>
                </a:r>
                <a:b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业务库中的防伪码只作展示回填。</a:t>
                </a:r>
              </a:p>
            </p:txBody>
          </p:sp>
        </p:grpSp>
        <p:grpSp>
          <p:nvGrpSpPr>
            <p:cNvPr id="17" name="conclusion-3"/>
            <p:cNvGrpSpPr/>
            <p:nvPr/>
          </p:nvGrpSpPr>
          <p:grpSpPr>
            <a:xfrm>
              <a:off x="669798" y="4826000"/>
              <a:ext cx="4909566" cy="1158494"/>
              <a:chOff x="669798" y="4826000"/>
              <a:chExt cx="4909566" cy="1158494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669798" y="4826000"/>
                <a:ext cx="521785" cy="6160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1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86256" y="494665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系统可运营、可降级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86256" y="5289550"/>
                <a:ext cx="4293108" cy="6949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700"/>
                  </a:lnSpc>
                </a:pPr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业务只读 1300+ RPS；链上写约 2 秒/笔；</a:t>
                </a:r>
                <a:b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已实现降级、重试与一致性对账。</a:t>
                </a:r>
              </a:p>
            </p:txBody>
          </p:sp>
        </p:grpSp>
      </p:grpSp>
      <p:grpSp>
        <p:nvGrpSpPr>
          <p:cNvPr id="39" name="metrics"/>
          <p:cNvGrpSpPr/>
          <p:nvPr/>
        </p:nvGrpSpPr>
        <p:grpSpPr>
          <a:xfrm>
            <a:off x="7620000" y="1866900"/>
            <a:ext cx="3790950" cy="3924300"/>
            <a:chOff x="7620000" y="1866900"/>
            <a:chExt cx="3790950" cy="3924300"/>
          </a:xfrm>
        </p:grpSpPr>
        <p:grpSp>
          <p:nvGrpSpPr>
            <p:cNvPr id="23" name="metric-76"/>
            <p:cNvGrpSpPr/>
            <p:nvPr/>
          </p:nvGrpSpPr>
          <p:grpSpPr>
            <a:xfrm>
              <a:off x="7620000" y="1866900"/>
              <a:ext cx="1809750" cy="1866900"/>
              <a:chOff x="7620000" y="1866900"/>
              <a:chExt cx="1809750" cy="18669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7620000" y="1866900"/>
                <a:ext cx="1809750" cy="18669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832598" y="2292350"/>
                <a:ext cx="521785" cy="6160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1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76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841742" y="2882900"/>
                <a:ext cx="8572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REST 接口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841742" y="3149600"/>
                <a:ext cx="14185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16 个 Controller</a:t>
                </a:r>
              </a:p>
            </p:txBody>
          </p:sp>
        </p:grpSp>
        <p:grpSp>
          <p:nvGrpSpPr>
            <p:cNvPr id="28" name="metric-2"/>
            <p:cNvGrpSpPr/>
            <p:nvPr/>
          </p:nvGrpSpPr>
          <p:grpSpPr>
            <a:xfrm>
              <a:off x="9601200" y="1866900"/>
              <a:ext cx="1809750" cy="1866900"/>
              <a:chOff x="9601200" y="1866900"/>
              <a:chExt cx="1809750" cy="18669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9601200" y="1866900"/>
                <a:ext cx="1809750" cy="18669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813798" y="2292350"/>
                <a:ext cx="276895" cy="6160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1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822942" y="288290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智能合约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822942" y="3149600"/>
                <a:ext cx="9496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存证 + 合规</a:t>
                </a:r>
              </a:p>
            </p:txBody>
          </p:sp>
        </p:grpSp>
        <p:grpSp>
          <p:nvGrpSpPr>
            <p:cNvPr id="33" name="metric-5"/>
            <p:cNvGrpSpPr/>
            <p:nvPr/>
          </p:nvGrpSpPr>
          <p:grpSpPr>
            <a:xfrm>
              <a:off x="7620000" y="3924300"/>
              <a:ext cx="1809750" cy="1866900"/>
              <a:chOff x="7620000" y="3924300"/>
              <a:chExt cx="1809750" cy="18669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7620000" y="3924300"/>
                <a:ext cx="1809750" cy="18669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832598" y="4349750"/>
                <a:ext cx="276895" cy="6160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1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841742" y="4940300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链上合规规则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841742" y="5207000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位掩码判定</a:t>
                </a:r>
              </a:p>
            </p:txBody>
          </p:sp>
        </p:grpSp>
        <p:grpSp>
          <p:nvGrpSpPr>
            <p:cNvPr id="38" name="metric-62"/>
            <p:cNvGrpSpPr/>
            <p:nvPr/>
          </p:nvGrpSpPr>
          <p:grpSpPr>
            <a:xfrm>
              <a:off x="9601200" y="3924300"/>
              <a:ext cx="1809750" cy="1866900"/>
              <a:chOff x="9601200" y="3924300"/>
              <a:chExt cx="1809750" cy="18669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9601200" y="3924300"/>
                <a:ext cx="1809750" cy="18669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9813798" y="4349750"/>
                <a:ext cx="521785" cy="6160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1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62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822942" y="4940300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接口回归断言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822942" y="520700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全部通过</a:t>
                </a:r>
              </a:p>
            </p:txBody>
          </p:sp>
        </p:grpSp>
      </p:grpSp>
      <p:grpSp>
        <p:nvGrpSpPr>
          <p:cNvPr id="43" name="footer"/>
          <p:cNvGrpSpPr/>
          <p:nvPr/>
        </p:nvGrpSpPr>
        <p:grpSpPr>
          <a:xfrm>
            <a:off x="679704" y="6419850"/>
            <a:ext cx="10832592" cy="329946"/>
            <a:chOff x="679704" y="6419850"/>
            <a:chExt cx="10832592" cy="329946"/>
          </a:xfrm>
        </p:grpSpPr>
        <p:sp>
          <p:nvSpPr>
            <p:cNvPr id="40" name="Line 40"/>
            <p:cNvSpPr/>
            <p:nvPr/>
          </p:nvSpPr>
          <p:spPr>
            <a:xfrm>
              <a:off x="685800" y="6419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9704" y="6515100"/>
              <a:ext cx="1999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碳链通 · 源码基线 054a34a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322406" y="65151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69798" y="558800"/>
            <a:ext cx="5544693" cy="933577"/>
            <a:chOff x="669798" y="558800"/>
            <a:chExt cx="5544693" cy="93357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58800"/>
              <a:ext cx="1330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业务闭环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6300"/>
              <a:ext cx="55446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五步闭环：从填报到</a:t>
              </a:r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公众核验</a:t>
              </a:r>
            </a:p>
          </p:txBody>
        </p:sp>
      </p:grpSp>
      <p:grpSp>
        <p:nvGrpSpPr>
          <p:cNvPr id="31" name="stage-rail"/>
          <p:cNvGrpSpPr/>
          <p:nvPr/>
        </p:nvGrpSpPr>
        <p:grpSpPr>
          <a:xfrm>
            <a:off x="761810" y="2108200"/>
            <a:ext cx="10515790" cy="1362583"/>
            <a:chOff x="761810" y="2108200"/>
            <a:chExt cx="10515790" cy="1362583"/>
          </a:xfrm>
        </p:grpSpPr>
        <p:sp>
          <p:nvSpPr>
            <p:cNvPr id="5" name="Line 5"/>
            <p:cNvSpPr/>
            <p:nvPr/>
          </p:nvSpPr>
          <p:spPr>
            <a:xfrm>
              <a:off x="914400" y="2724150"/>
              <a:ext cx="10363200" cy="9525"/>
            </a:xfrm>
            <a:custGeom>
              <a:avLst/>
              <a:gdLst/>
              <a:ahLst/>
              <a:cxnLst/>
              <a:rect l="l" t="t" r="r" b="b"/>
              <a:pathLst>
                <a:path w="10363200" h="9525">
                  <a:moveTo>
                    <a:pt x="0" y="0"/>
                  </a:moveTo>
                  <a:lnTo>
                    <a:pt x="103632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grpSp>
          <p:nvGrpSpPr>
            <p:cNvPr id="10" name="stage-1"/>
            <p:cNvGrpSpPr/>
            <p:nvPr/>
          </p:nvGrpSpPr>
          <p:grpSpPr>
            <a:xfrm>
              <a:off x="761810" y="2108200"/>
              <a:ext cx="1333881" cy="1362583"/>
              <a:chOff x="761810" y="2108200"/>
              <a:chExt cx="1333881" cy="1362583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295400" y="25908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376008" y="263842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177290" y="210820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填报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61810" y="2940050"/>
                <a:ext cx="1333881" cy="530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2100"/>
                  </a:lnSpc>
                </a:pP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活动数据 × 因子</a:t>
                </a:r>
                <a:b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生成 12 位防伪码</a:t>
                </a:r>
              </a:p>
            </p:txBody>
          </p:sp>
        </p:grpSp>
        <p:grpSp>
          <p:nvGrpSpPr>
            <p:cNvPr id="15" name="stage-2"/>
            <p:cNvGrpSpPr/>
            <p:nvPr/>
          </p:nvGrpSpPr>
          <p:grpSpPr>
            <a:xfrm>
              <a:off x="3012567" y="2108200"/>
              <a:ext cx="1213866" cy="1362583"/>
              <a:chOff x="3012567" y="2108200"/>
              <a:chExt cx="1213866" cy="1362583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3486150" y="25908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3566758" y="263842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368040" y="210820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审核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012567" y="2940050"/>
                <a:ext cx="1213866" cy="530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2100"/>
                  </a:lnSpc>
                </a:pP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通过 / 驳回</a:t>
                </a:r>
                <a:b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驳回可重新申请</a:t>
                </a:r>
              </a:p>
            </p:txBody>
          </p:sp>
        </p:grpSp>
        <p:grpSp>
          <p:nvGrpSpPr>
            <p:cNvPr id="20" name="stage-3"/>
            <p:cNvGrpSpPr/>
            <p:nvPr/>
          </p:nvGrpSpPr>
          <p:grpSpPr>
            <a:xfrm>
              <a:off x="5091874" y="2108200"/>
              <a:ext cx="1436751" cy="1362583"/>
              <a:chOff x="5091874" y="2108200"/>
              <a:chExt cx="1436751" cy="1362583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5676900" y="25908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757508" y="263842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558790" y="210820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认证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091874" y="2940050"/>
                <a:ext cx="1436751" cy="530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2100"/>
                  </a:lnSpc>
                </a:pP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排放 / 报告 / 认证</a:t>
                </a:r>
                <a:b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三表同号</a:t>
                </a:r>
              </a:p>
            </p:txBody>
          </p:sp>
        </p:grpSp>
        <p:grpSp>
          <p:nvGrpSpPr>
            <p:cNvPr id="25" name="stage-4"/>
            <p:cNvGrpSpPr/>
            <p:nvPr/>
          </p:nvGrpSpPr>
          <p:grpSpPr>
            <a:xfrm>
              <a:off x="7231189" y="2108200"/>
              <a:ext cx="1539621" cy="1362583"/>
              <a:chOff x="7231189" y="2108200"/>
              <a:chExt cx="1539621" cy="1362583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7867650" y="2590800"/>
                <a:ext cx="266700" cy="26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948258" y="263842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749540" y="210820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存证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231189" y="2940050"/>
                <a:ext cx="1539621" cy="530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2100"/>
                  </a:lnSpc>
                </a:pP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事务提交后 certify</a:t>
                </a:r>
                <a:b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写入链上状态</a:t>
                </a:r>
              </a:p>
            </p:txBody>
          </p:sp>
        </p:grpSp>
        <p:grpSp>
          <p:nvGrpSpPr>
            <p:cNvPr id="30" name="stage-5"/>
            <p:cNvGrpSpPr/>
            <p:nvPr/>
          </p:nvGrpSpPr>
          <p:grpSpPr>
            <a:xfrm>
              <a:off x="9486233" y="2108200"/>
              <a:ext cx="1411033" cy="1362583"/>
              <a:chOff x="9486233" y="2108200"/>
              <a:chExt cx="1411033" cy="1362583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10058400" y="2590800"/>
                <a:ext cx="266700" cy="26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139008" y="263842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940290" y="210820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核验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486233" y="2940050"/>
                <a:ext cx="1411033" cy="530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2100"/>
                  </a:lnSpc>
                </a:pP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防伪码 / 交易哈希</a:t>
                </a:r>
                <a:b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以链上为准</a:t>
                </a:r>
              </a:p>
            </p:txBody>
          </p:sp>
        </p:grpSp>
      </p:grpSp>
      <p:grpSp>
        <p:nvGrpSpPr>
          <p:cNvPr id="68" name="role-band"/>
          <p:cNvGrpSpPr/>
          <p:nvPr/>
        </p:nvGrpSpPr>
        <p:grpSpPr>
          <a:xfrm>
            <a:off x="685800" y="4533900"/>
            <a:ext cx="10820400" cy="1466850"/>
            <a:chOff x="685800" y="4533900"/>
            <a:chExt cx="10820400" cy="1466850"/>
          </a:xfrm>
        </p:grpSpPr>
        <p:sp>
          <p:nvSpPr>
            <p:cNvPr id="32" name="Line 32"/>
            <p:cNvSpPr/>
            <p:nvPr/>
          </p:nvSpPr>
          <p:spPr>
            <a:xfrm>
              <a:off x="685800" y="4533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42" name="role-enterprise"/>
            <p:cNvGrpSpPr/>
            <p:nvPr/>
          </p:nvGrpSpPr>
          <p:grpSpPr>
            <a:xfrm>
              <a:off x="685800" y="4686300"/>
              <a:ext cx="2590800" cy="1314450"/>
              <a:chOff x="685800" y="4686300"/>
              <a:chExt cx="2590800" cy="13144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685800" y="4686300"/>
                <a:ext cx="2590800" cy="131445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grpSp>
            <p:nvGrpSpPr>
              <p:cNvPr id="39" name="Group 39"/>
              <p:cNvGrpSpPr/>
              <p:nvPr/>
            </p:nvGrpSpPr>
            <p:grpSpPr>
              <a:xfrm>
                <a:off x="977900" y="4953000"/>
                <a:ext cx="177800" cy="228599"/>
                <a:chOff x="977900" y="4953000"/>
                <a:chExt cx="177800" cy="228599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1092200" y="495300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0"/>
                      </a:moveTo>
                      <a:lnTo>
                        <a:pt x="0" y="50800"/>
                      </a:lnTo>
                      <a:cubicBezTo>
                        <a:pt x="0" y="57814"/>
                        <a:pt x="5686" y="63500"/>
                        <a:pt x="12700" y="63500"/>
                      </a:cubicBezTo>
                      <a:lnTo>
                        <a:pt x="63500" y="635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977900" y="4953000"/>
                  <a:ext cx="177800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28599">
                      <a:moveTo>
                        <a:pt x="152400" y="228599"/>
                      </a:moveTo>
                      <a:lnTo>
                        <a:pt x="25400" y="228599"/>
                      </a:lnTo>
                      <a:cubicBezTo>
                        <a:pt x="11372" y="228599"/>
                        <a:pt x="0" y="217227"/>
                        <a:pt x="0" y="203199"/>
                      </a:cubicBezTo>
                      <a:lnTo>
                        <a:pt x="0" y="25400"/>
                      </a:ln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14300" y="0"/>
                      </a:lnTo>
                      <a:lnTo>
                        <a:pt x="177800" y="63500"/>
                      </a:lnTo>
                      <a:lnTo>
                        <a:pt x="177800" y="203199"/>
                      </a:lnTo>
                      <a:cubicBezTo>
                        <a:pt x="177800" y="217227"/>
                        <a:pt x="166428" y="228599"/>
                        <a:pt x="152400" y="228599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1028700" y="5029200"/>
                  <a:ext cx="127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" h="9525">
                      <a:moveTo>
                        <a:pt x="0" y="0"/>
                      </a:moveTo>
                      <a:lnTo>
                        <a:pt x="127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1028700" y="5080000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1028700" y="5130799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40" name="TextBox 40"/>
              <p:cNvSpPr txBox="1"/>
              <p:nvPr/>
            </p:nvSpPr>
            <p:spPr>
              <a:xfrm>
                <a:off x="1343406" y="4927600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企业端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07542" y="5334000"/>
                <a:ext cx="1385316" cy="511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填报、申请、删除</a:t>
                </a:r>
                <a:b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仅本企业数据</a:t>
                </a:r>
              </a:p>
            </p:txBody>
          </p:sp>
        </p:grpSp>
        <p:grpSp>
          <p:nvGrpSpPr>
            <p:cNvPr id="52" name="role-auditor"/>
            <p:cNvGrpSpPr/>
            <p:nvPr/>
          </p:nvGrpSpPr>
          <p:grpSpPr>
            <a:xfrm>
              <a:off x="3429000" y="4686300"/>
              <a:ext cx="2590800" cy="1314450"/>
              <a:chOff x="3429000" y="4686300"/>
              <a:chExt cx="2590800" cy="131445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3429000" y="4686300"/>
                <a:ext cx="2590800" cy="131445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3721100" y="4953000"/>
                <a:ext cx="177800" cy="228599"/>
                <a:chOff x="3721100" y="4953000"/>
                <a:chExt cx="177800" cy="228599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3835400" y="495300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0"/>
                      </a:moveTo>
                      <a:lnTo>
                        <a:pt x="0" y="50800"/>
                      </a:lnTo>
                      <a:cubicBezTo>
                        <a:pt x="0" y="57814"/>
                        <a:pt x="5686" y="63500"/>
                        <a:pt x="12700" y="63500"/>
                      </a:cubicBezTo>
                      <a:lnTo>
                        <a:pt x="63500" y="6350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3721100" y="4953000"/>
                  <a:ext cx="177800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28599">
                      <a:moveTo>
                        <a:pt x="152400" y="228599"/>
                      </a:moveTo>
                      <a:lnTo>
                        <a:pt x="25400" y="228599"/>
                      </a:lnTo>
                      <a:cubicBezTo>
                        <a:pt x="11372" y="228599"/>
                        <a:pt x="0" y="217227"/>
                        <a:pt x="0" y="203199"/>
                      </a:cubicBezTo>
                      <a:lnTo>
                        <a:pt x="0" y="25400"/>
                      </a:ln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14300" y="0"/>
                      </a:lnTo>
                      <a:lnTo>
                        <a:pt x="177800" y="63500"/>
                      </a:lnTo>
                      <a:lnTo>
                        <a:pt x="177800" y="203199"/>
                      </a:lnTo>
                      <a:cubicBezTo>
                        <a:pt x="177800" y="217227"/>
                        <a:pt x="166428" y="228599"/>
                        <a:pt x="152400" y="228599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3771900" y="5029200"/>
                  <a:ext cx="127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" h="9525">
                      <a:moveTo>
                        <a:pt x="0" y="0"/>
                      </a:moveTo>
                      <a:lnTo>
                        <a:pt x="1270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3771900" y="5080000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3771900" y="5130799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4086606" y="4927600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审核端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650742" y="5334000"/>
                <a:ext cx="1213866" cy="511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审核报告</a:t>
                </a:r>
                <a:b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不参与企业管理</a:t>
                </a:r>
              </a:p>
            </p:txBody>
          </p:sp>
        </p:grpSp>
        <p:grpSp>
          <p:nvGrpSpPr>
            <p:cNvPr id="59" name="role-regulator"/>
            <p:cNvGrpSpPr/>
            <p:nvPr/>
          </p:nvGrpSpPr>
          <p:grpSpPr>
            <a:xfrm>
              <a:off x="6172200" y="4686300"/>
              <a:ext cx="2590800" cy="1314450"/>
              <a:chOff x="6172200" y="4686300"/>
              <a:chExt cx="2590800" cy="131445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6172200" y="4686300"/>
                <a:ext cx="2590800" cy="131445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6421761" y="4953000"/>
                <a:ext cx="248008" cy="228599"/>
                <a:chOff x="6421761" y="4953000"/>
                <a:chExt cx="248008" cy="228599"/>
              </a:xfrm>
            </p:grpSpPr>
            <p:sp>
              <p:nvSpPr>
                <p:cNvPr id="54" name="Freeform 54"/>
                <p:cNvSpPr/>
                <p:nvPr/>
              </p:nvSpPr>
              <p:spPr>
                <a:xfrm>
                  <a:off x="6421761" y="4953000"/>
                  <a:ext cx="248008" cy="226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008" h="226644">
                      <a:moveTo>
                        <a:pt x="124581" y="226644"/>
                      </a:moveTo>
                      <a:cubicBezTo>
                        <a:pt x="45021" y="201982"/>
                        <a:pt x="0" y="118013"/>
                        <a:pt x="23489" y="38100"/>
                      </a:cubicBezTo>
                      <a:cubicBezTo>
                        <a:pt x="63056" y="39910"/>
                        <a:pt x="101774" y="26245"/>
                        <a:pt x="131439" y="0"/>
                      </a:cubicBezTo>
                      <a:cubicBezTo>
                        <a:pt x="161104" y="26245"/>
                        <a:pt x="199822" y="39910"/>
                        <a:pt x="239389" y="38100"/>
                      </a:cubicBezTo>
                      <a:cubicBezTo>
                        <a:pt x="248008" y="67426"/>
                        <a:pt x="247610" y="98665"/>
                        <a:pt x="238246" y="127762"/>
                      </a:cubicBez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6591300" y="5130799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0800">
                      <a:moveTo>
                        <a:pt x="0" y="25400"/>
                      </a:moveTo>
                      <a:lnTo>
                        <a:pt x="25400" y="508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6829806" y="4927600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监管端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393942" y="5334000"/>
                <a:ext cx="1556766" cy="511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撤销认证、治理因子</a:t>
                </a:r>
                <a:b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与审核机构</a:t>
                </a:r>
              </a:p>
            </p:txBody>
          </p:sp>
        </p:grpSp>
        <p:grpSp>
          <p:nvGrpSpPr>
            <p:cNvPr id="67" name="role-public"/>
            <p:cNvGrpSpPr/>
            <p:nvPr/>
          </p:nvGrpSpPr>
          <p:grpSpPr>
            <a:xfrm>
              <a:off x="8915400" y="4686300"/>
              <a:ext cx="2590800" cy="1314450"/>
              <a:chOff x="8915400" y="4686300"/>
              <a:chExt cx="2590800" cy="1314450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8915400" y="4686300"/>
                <a:ext cx="2590800" cy="131445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grpSp>
            <p:nvGrpSpPr>
              <p:cNvPr id="64" name="Group 64"/>
              <p:cNvGrpSpPr/>
              <p:nvPr/>
            </p:nvGrpSpPr>
            <p:grpSpPr>
              <a:xfrm>
                <a:off x="9194798" y="4959495"/>
                <a:ext cx="209388" cy="215583"/>
                <a:chOff x="9194798" y="4959495"/>
                <a:chExt cx="209388" cy="215583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9258300" y="50292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9283700" y="4959495"/>
                  <a:ext cx="120486" cy="1205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486" h="120505">
                      <a:moveTo>
                        <a:pt x="0" y="31605"/>
                      </a:moveTo>
                      <a:lnTo>
                        <a:pt x="5880" y="24798"/>
                      </a:lnTo>
                      <a:cubicBezTo>
                        <a:pt x="30682" y="0"/>
                        <a:pt x="70890" y="3"/>
                        <a:pt x="95688" y="24804"/>
                      </a:cubicBezTo>
                      <a:cubicBezTo>
                        <a:pt x="120486" y="49606"/>
                        <a:pt x="120483" y="89814"/>
                        <a:pt x="95682" y="114612"/>
                      </a:cubicBezTo>
                      <a:lnTo>
                        <a:pt x="88900" y="120505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9194798" y="5054600"/>
                  <a:ext cx="114302" cy="120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2" h="120478">
                      <a:moveTo>
                        <a:pt x="114302" y="88900"/>
                      </a:moveTo>
                      <a:lnTo>
                        <a:pt x="109260" y="95682"/>
                      </a:lnTo>
                      <a:cubicBezTo>
                        <a:pt x="84184" y="120478"/>
                        <a:pt x="43823" y="120478"/>
                        <a:pt x="18747" y="95682"/>
                      </a:cubicBezTo>
                      <a:cubicBezTo>
                        <a:pt x="6751" y="83820"/>
                        <a:pt x="0" y="67651"/>
                        <a:pt x="0" y="50781"/>
                      </a:cubicBezTo>
                      <a:cubicBezTo>
                        <a:pt x="0" y="33911"/>
                        <a:pt x="6751" y="17742"/>
                        <a:pt x="18747" y="5880"/>
                      </a:cubicBezTo>
                      <a:lnTo>
                        <a:pt x="25402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65" name="TextBox 65"/>
              <p:cNvSpPr txBox="1"/>
              <p:nvPr/>
            </p:nvSpPr>
            <p:spPr>
              <a:xfrm>
                <a:off x="9573006" y="492760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公众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9137142" y="5334000"/>
                <a:ext cx="870966" cy="511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免登录核验</a:t>
                </a:r>
                <a:b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证书真伪</a:t>
                </a:r>
              </a:p>
            </p:txBody>
          </p:sp>
        </p:grpSp>
      </p:grpSp>
      <p:grpSp>
        <p:nvGrpSpPr>
          <p:cNvPr id="72" name="footer"/>
          <p:cNvGrpSpPr/>
          <p:nvPr/>
        </p:nvGrpSpPr>
        <p:grpSpPr>
          <a:xfrm>
            <a:off x="679704" y="6419850"/>
            <a:ext cx="10832592" cy="329946"/>
            <a:chOff x="679704" y="6419850"/>
            <a:chExt cx="10832592" cy="329946"/>
          </a:xfrm>
        </p:grpSpPr>
        <p:sp>
          <p:nvSpPr>
            <p:cNvPr id="69" name="Line 69"/>
            <p:cNvSpPr/>
            <p:nvPr/>
          </p:nvSpPr>
          <p:spPr>
            <a:xfrm>
              <a:off x="685800" y="6419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79704" y="6515100"/>
              <a:ext cx="1999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碳链通 · 源码基线 054a34a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322406" y="65151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69798" y="558800"/>
            <a:ext cx="7240905" cy="933577"/>
            <a:chOff x="669798" y="558800"/>
            <a:chExt cx="7240905" cy="93357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58800"/>
              <a:ext cx="11284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主链路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6300"/>
              <a:ext cx="72409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一次认证，</a:t>
              </a:r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三张表同号</a:t>
              </a:r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，一笔链上存证</a:t>
              </a:r>
            </a:p>
          </p:txBody>
        </p:sp>
      </p:grpSp>
      <p:grpSp>
        <p:nvGrpSpPr>
          <p:cNvPr id="34" name="sequence"/>
          <p:cNvGrpSpPr/>
          <p:nvPr/>
        </p:nvGrpSpPr>
        <p:grpSpPr>
          <a:xfrm>
            <a:off x="1975485" y="1943100"/>
            <a:ext cx="8622030" cy="3924300"/>
            <a:chOff x="1975485" y="1943100"/>
            <a:chExt cx="8622030" cy="3924300"/>
          </a:xfrm>
        </p:grpSpPr>
        <p:sp>
          <p:nvSpPr>
            <p:cNvPr id="5" name="TextBox 5"/>
            <p:cNvSpPr txBox="1"/>
            <p:nvPr/>
          </p:nvSpPr>
          <p:spPr>
            <a:xfrm>
              <a:off x="1975485" y="19558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553026" y="1955800"/>
              <a:ext cx="7999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后端 API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263316" y="1943100"/>
              <a:ext cx="7133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MySQL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976485" y="19558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联盟链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286000" y="2286000"/>
              <a:ext cx="9525" cy="3581400"/>
            </a:xfrm>
            <a:custGeom>
              <a:avLst/>
              <a:gdLst/>
              <a:ahLst/>
              <a:cxnLst/>
              <a:rect l="l" t="t" r="r" b="b"/>
              <a:pathLst>
                <a:path w="9525" h="3581400">
                  <a:moveTo>
                    <a:pt x="0" y="0"/>
                  </a:moveTo>
                  <a:lnTo>
                    <a:pt x="0" y="35814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  <a:prstDash val="dash"/>
            </a:ln>
          </p:spPr>
        </p:sp>
        <p:sp>
          <p:nvSpPr>
            <p:cNvPr id="10" name="Line 10"/>
            <p:cNvSpPr/>
            <p:nvPr/>
          </p:nvSpPr>
          <p:spPr>
            <a:xfrm>
              <a:off x="4953000" y="2286000"/>
              <a:ext cx="9525" cy="3581400"/>
            </a:xfrm>
            <a:custGeom>
              <a:avLst/>
              <a:gdLst/>
              <a:ahLst/>
              <a:cxnLst/>
              <a:rect l="l" t="t" r="r" b="b"/>
              <a:pathLst>
                <a:path w="9525" h="3581400">
                  <a:moveTo>
                    <a:pt x="0" y="0"/>
                  </a:moveTo>
                  <a:lnTo>
                    <a:pt x="0" y="35814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  <a:prstDash val="dash"/>
            </a:ln>
          </p:spPr>
        </p:sp>
        <p:sp>
          <p:nvSpPr>
            <p:cNvPr id="11" name="Line 11"/>
            <p:cNvSpPr/>
            <p:nvPr/>
          </p:nvSpPr>
          <p:spPr>
            <a:xfrm>
              <a:off x="7620000" y="2286000"/>
              <a:ext cx="9525" cy="3581400"/>
            </a:xfrm>
            <a:custGeom>
              <a:avLst/>
              <a:gdLst/>
              <a:ahLst/>
              <a:cxnLst/>
              <a:rect l="l" t="t" r="r" b="b"/>
              <a:pathLst>
                <a:path w="9525" h="3581400">
                  <a:moveTo>
                    <a:pt x="0" y="0"/>
                  </a:moveTo>
                  <a:lnTo>
                    <a:pt x="0" y="35814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  <a:prstDash val="dash"/>
            </a:ln>
          </p:spPr>
        </p:sp>
        <p:sp>
          <p:nvSpPr>
            <p:cNvPr id="12" name="Line 12"/>
            <p:cNvSpPr/>
            <p:nvPr/>
          </p:nvSpPr>
          <p:spPr>
            <a:xfrm>
              <a:off x="10287000" y="2286000"/>
              <a:ext cx="9525" cy="3581400"/>
            </a:xfrm>
            <a:custGeom>
              <a:avLst/>
              <a:gdLst/>
              <a:ahLst/>
              <a:cxnLst/>
              <a:rect l="l" t="t" r="r" b="b"/>
              <a:pathLst>
                <a:path w="9525" h="3581400">
                  <a:moveTo>
                    <a:pt x="0" y="0"/>
                  </a:moveTo>
                  <a:lnTo>
                    <a:pt x="0" y="35814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  <a:prstDash val="dash"/>
            </a:ln>
          </p:spPr>
        </p:sp>
        <p:grpSp>
          <p:nvGrpSpPr>
            <p:cNvPr id="15" name="msg-1"/>
            <p:cNvGrpSpPr/>
            <p:nvPr/>
          </p:nvGrpSpPr>
          <p:grpSpPr>
            <a:xfrm>
              <a:off x="2286000" y="2559050"/>
              <a:ext cx="2692737" cy="298451"/>
              <a:chOff x="2286000" y="2559050"/>
              <a:chExt cx="2692737" cy="298451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2393442" y="2559050"/>
                <a:ext cx="258529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提交填报（活动数据 + 排放源）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2286000" y="2857500"/>
                <a:ext cx="2571750" cy="1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</p:grpSp>
        <p:grpSp>
          <p:nvGrpSpPr>
            <p:cNvPr id="18" name="msg-2"/>
            <p:cNvGrpSpPr/>
            <p:nvPr/>
          </p:nvGrpSpPr>
          <p:grpSpPr>
            <a:xfrm>
              <a:off x="4953000" y="3035300"/>
              <a:ext cx="3356077" cy="298451"/>
              <a:chOff x="4953000" y="3035300"/>
              <a:chExt cx="3356077" cy="298451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5060442" y="3035300"/>
                <a:ext cx="32486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写 emission_records，触发器派生报告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4953000" y="3333750"/>
                <a:ext cx="2571750" cy="1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</p:grpSp>
        <p:grpSp>
          <p:nvGrpSpPr>
            <p:cNvPr id="21" name="msg-3"/>
            <p:cNvGrpSpPr/>
            <p:nvPr/>
          </p:nvGrpSpPr>
          <p:grpSpPr>
            <a:xfrm>
              <a:off x="4953000" y="3511550"/>
              <a:ext cx="5238750" cy="298451"/>
              <a:chOff x="4953000" y="3511550"/>
              <a:chExt cx="5238750" cy="298451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5060442" y="3511550"/>
                <a:ext cx="15093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合规判定 checkAll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4953000" y="3810000"/>
                <a:ext cx="5238750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</p:grpSp>
        <p:grpSp>
          <p:nvGrpSpPr>
            <p:cNvPr id="24" name="msg-4"/>
            <p:cNvGrpSpPr/>
            <p:nvPr/>
          </p:nvGrpSpPr>
          <p:grpSpPr>
            <a:xfrm>
              <a:off x="5048250" y="3987800"/>
              <a:ext cx="5143500" cy="298451"/>
              <a:chOff x="5048250" y="3987800"/>
              <a:chExt cx="5143500" cy="298451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7613142" y="3987800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返回规则位掩码</a:t>
                </a:r>
              </a:p>
            </p:txBody>
          </p:sp>
          <p:sp>
            <p:nvSpPr>
              <p:cNvPr id="23" name="Line 23"/>
              <p:cNvSpPr/>
              <p:nvPr/>
            </p:nvSpPr>
            <p:spPr>
              <a:xfrm flipH="1">
                <a:off x="5048250" y="4286250"/>
                <a:ext cx="5143500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</p:grpSp>
        <p:grpSp>
          <p:nvGrpSpPr>
            <p:cNvPr id="27" name="msg-5"/>
            <p:cNvGrpSpPr/>
            <p:nvPr/>
          </p:nvGrpSpPr>
          <p:grpSpPr>
            <a:xfrm>
              <a:off x="4953000" y="4464050"/>
              <a:ext cx="3010776" cy="298451"/>
              <a:chOff x="4953000" y="4464050"/>
              <a:chExt cx="3010776" cy="298451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5060442" y="4464050"/>
                <a:ext cx="29033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审核通过 → 报告与排放置 certified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4953000" y="4762500"/>
                <a:ext cx="2571750" cy="1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</p:grpSp>
        <p:grpSp>
          <p:nvGrpSpPr>
            <p:cNvPr id="30" name="msg-6"/>
            <p:cNvGrpSpPr/>
            <p:nvPr/>
          </p:nvGrpSpPr>
          <p:grpSpPr>
            <a:xfrm>
              <a:off x="4953000" y="4940300"/>
              <a:ext cx="5238750" cy="298451"/>
              <a:chOff x="4953000" y="4940300"/>
              <a:chExt cx="5238750" cy="298451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5060442" y="4940300"/>
                <a:ext cx="311233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事务提交后 certify（存证 + 防伪码）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4953000" y="5238750"/>
                <a:ext cx="5238750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</p:grpSp>
        <p:grpSp>
          <p:nvGrpSpPr>
            <p:cNvPr id="33" name="msg-7"/>
            <p:cNvGrpSpPr/>
            <p:nvPr/>
          </p:nvGrpSpPr>
          <p:grpSpPr>
            <a:xfrm>
              <a:off x="5048250" y="5416550"/>
              <a:ext cx="5476370" cy="298451"/>
              <a:chOff x="5048250" y="5416550"/>
              <a:chExt cx="5476370" cy="298451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7613142" y="5416550"/>
                <a:ext cx="291147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回执 txHash / 区块高度 → 定位缓存</a:t>
                </a:r>
              </a:p>
            </p:txBody>
          </p:sp>
          <p:sp>
            <p:nvSpPr>
              <p:cNvPr id="32" name="Line 32"/>
              <p:cNvSpPr/>
              <p:nvPr/>
            </p:nvSpPr>
            <p:spPr>
              <a:xfrm flipH="1">
                <a:off x="5048250" y="5715000"/>
                <a:ext cx="5143500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</p:grpSp>
      </p:grpSp>
      <p:grpSp>
        <p:nvGrpSpPr>
          <p:cNvPr id="38" name="footer"/>
          <p:cNvGrpSpPr/>
          <p:nvPr/>
        </p:nvGrpSpPr>
        <p:grpSpPr>
          <a:xfrm>
            <a:off x="679704" y="6419850"/>
            <a:ext cx="10832592" cy="329946"/>
            <a:chOff x="679704" y="6419850"/>
            <a:chExt cx="10832592" cy="329946"/>
          </a:xfrm>
        </p:grpSpPr>
        <p:sp>
          <p:nvSpPr>
            <p:cNvPr id="35" name="Line 35"/>
            <p:cNvSpPr/>
            <p:nvPr/>
          </p:nvSpPr>
          <p:spPr>
            <a:xfrm>
              <a:off x="685800" y="6419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9704" y="6515100"/>
              <a:ext cx="4446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链上写入失败自动重试，最终失败生成 chain_failed 高危告警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322406" y="65151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6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69798" y="558800"/>
            <a:ext cx="8815662" cy="933577"/>
            <a:chOff x="669798" y="558800"/>
            <a:chExt cx="8815662" cy="93357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58800"/>
              <a:ext cx="1330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总体架构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6300"/>
              <a:ext cx="881566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四层架构：浏览器只认 nginx，</a:t>
              </a:r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后端只认 REST</a:t>
              </a:r>
            </a:p>
          </p:txBody>
        </p:sp>
      </p:grpSp>
      <p:grpSp>
        <p:nvGrpSpPr>
          <p:cNvPr id="36" name="architecture"/>
          <p:cNvGrpSpPr/>
          <p:nvPr/>
        </p:nvGrpSpPr>
        <p:grpSpPr>
          <a:xfrm>
            <a:off x="678942" y="1905000"/>
            <a:ext cx="10827258" cy="3886200"/>
            <a:chOff x="678942" y="1905000"/>
            <a:chExt cx="10827258" cy="3886200"/>
          </a:xfrm>
        </p:grpSpPr>
        <p:grpSp>
          <p:nvGrpSpPr>
            <p:cNvPr id="9" name="layer-access"/>
            <p:cNvGrpSpPr/>
            <p:nvPr/>
          </p:nvGrpSpPr>
          <p:grpSpPr>
            <a:xfrm>
              <a:off x="678942" y="1905000"/>
              <a:ext cx="10827258" cy="609600"/>
              <a:chOff x="678942" y="1905000"/>
              <a:chExt cx="10827258" cy="609600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678942" y="2139950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接入层</a:t>
                </a:r>
              </a:p>
            </p:txBody>
          </p:sp>
          <p:sp>
            <p:nvSpPr>
              <p:cNvPr id="6" name="Rectangle 6"/>
              <p:cNvSpPr/>
              <p:nvPr/>
            </p:nvSpPr>
            <p:spPr>
              <a:xfrm>
                <a:off x="1905000" y="1905000"/>
                <a:ext cx="9601200" cy="6096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2125980" y="2108200"/>
                <a:ext cx="16609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浏览器 / 扫码终端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4946142" y="2120900"/>
                <a:ext cx="27579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只与 nginx 通信，不直连后端与链</a:t>
                </a:r>
              </a:p>
            </p:txBody>
          </p:sp>
        </p:grpSp>
        <p:grpSp>
          <p:nvGrpSpPr>
            <p:cNvPr id="15" name="layer-edge"/>
            <p:cNvGrpSpPr/>
            <p:nvPr/>
          </p:nvGrpSpPr>
          <p:grpSpPr>
            <a:xfrm>
              <a:off x="678942" y="2724150"/>
              <a:ext cx="10827258" cy="609600"/>
              <a:chOff x="678942" y="2724150"/>
              <a:chExt cx="10827258" cy="609600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678942" y="2959100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边缘层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1905000" y="2724150"/>
                <a:ext cx="9601200" cy="6096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2125980" y="2914650"/>
                <a:ext cx="95875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nginx :80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765042" y="2940050"/>
                <a:ext cx="293059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静态资源 /opt/carbon-trace/web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232142" y="2940050"/>
                <a:ext cx="29396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/api · /uploads → 127.0.0.1:8080</a:t>
                </a:r>
              </a:p>
            </p:txBody>
          </p:sp>
        </p:grpSp>
        <p:grpSp>
          <p:nvGrpSpPr>
            <p:cNvPr id="21" name="layer-app"/>
            <p:cNvGrpSpPr/>
            <p:nvPr/>
          </p:nvGrpSpPr>
          <p:grpSpPr>
            <a:xfrm>
              <a:off x="678942" y="3543300"/>
              <a:ext cx="10827258" cy="609600"/>
              <a:chOff x="678942" y="3543300"/>
              <a:chExt cx="10827258" cy="609600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678942" y="3778250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应用层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1905000" y="3543300"/>
                <a:ext cx="9601200" cy="6096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2125980" y="3733800"/>
                <a:ext cx="18593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Spring Boot :8080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298442" y="3759200"/>
                <a:ext cx="31396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16 Controller · 76 接口 · 14 Service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84642" y="3759200"/>
                <a:ext cx="163383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ChainGateway 抽象</a:t>
                </a:r>
              </a:p>
            </p:txBody>
          </p:sp>
        </p:grpSp>
        <p:grpSp>
          <p:nvGrpSpPr>
            <p:cNvPr id="27" name="layer-data"/>
            <p:cNvGrpSpPr/>
            <p:nvPr/>
          </p:nvGrpSpPr>
          <p:grpSpPr>
            <a:xfrm>
              <a:off x="678942" y="4362450"/>
              <a:ext cx="10827258" cy="609600"/>
              <a:chOff x="678942" y="4362450"/>
              <a:chExt cx="10827258" cy="609600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678942" y="4597400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数据层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1905000" y="4362450"/>
                <a:ext cx="9601200" cy="6096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2125980" y="4552950"/>
                <a:ext cx="114554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MySQL 8.4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765042" y="4578350"/>
                <a:ext cx="431179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carbon_emission · 13 张表 · 绑定 127.0.0.1:3306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946642" y="4578350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不保存任何哈希</a:t>
                </a:r>
              </a:p>
            </p:txBody>
          </p:sp>
        </p:grpSp>
        <p:grpSp>
          <p:nvGrpSpPr>
            <p:cNvPr id="33" name="layer-chain"/>
            <p:cNvGrpSpPr/>
            <p:nvPr/>
          </p:nvGrpSpPr>
          <p:grpSpPr>
            <a:xfrm>
              <a:off x="678942" y="5181600"/>
              <a:ext cx="10827258" cy="609600"/>
              <a:chOff x="678942" y="5181600"/>
              <a:chExt cx="10827258" cy="609600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678942" y="54165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联盟链层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1905000" y="5181600"/>
                <a:ext cx="9601200" cy="6096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2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2125980" y="5372100"/>
                <a:ext cx="216818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WeBASE-Front :5002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527042" y="5397500"/>
                <a:ext cx="17142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WeBASE-Sign :5004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813042" y="5397500"/>
                <a:ext cx="31375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FISCO BCOS node0 / node1 · group0</a:t>
                </a:r>
              </a:p>
            </p:txBody>
          </p:sp>
        </p:grpSp>
        <p:sp>
          <p:nvSpPr>
            <p:cNvPr id="34" name="Line 34"/>
            <p:cNvSpPr/>
            <p:nvPr/>
          </p:nvSpPr>
          <p:spPr>
            <a:xfrm>
              <a:off x="11315700" y="4152900"/>
              <a:ext cx="1" cy="97155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819790" y="4324350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REST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679704" y="6419850"/>
            <a:ext cx="10832592" cy="329946"/>
            <a:chOff x="679704" y="6419850"/>
            <a:chExt cx="10832592" cy="329946"/>
          </a:xfrm>
        </p:grpSpPr>
        <p:sp>
          <p:nvSpPr>
            <p:cNvPr id="37" name="Line 37"/>
            <p:cNvSpPr/>
            <p:nvPr/>
          </p:nvSpPr>
          <p:spPr>
            <a:xfrm>
              <a:off x="685800" y="6419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9704" y="6515100"/>
              <a:ext cx="48057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WeBASE 5001 / 5002 / 5004、MySQL、Redis 均绑定 127.0.0.1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322406" y="65151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69798" y="558800"/>
            <a:ext cx="6816852" cy="933577"/>
            <a:chOff x="669798" y="558800"/>
            <a:chExt cx="6816852" cy="93357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58800"/>
              <a:ext cx="1330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 / 链上合约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6300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两个合约：一个管存证，</a:t>
              </a:r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一个管合规</a:t>
              </a:r>
            </a:p>
          </p:txBody>
        </p:sp>
      </p:grpSp>
      <p:grpSp>
        <p:nvGrpSpPr>
          <p:cNvPr id="17" name="contracts"/>
          <p:cNvGrpSpPr/>
          <p:nvPr/>
        </p:nvGrpSpPr>
        <p:grpSpPr>
          <a:xfrm>
            <a:off x="685800" y="1752600"/>
            <a:ext cx="10820400" cy="1409700"/>
            <a:chOff x="685800" y="1752600"/>
            <a:chExt cx="10820400" cy="1409700"/>
          </a:xfrm>
        </p:grpSpPr>
        <p:grpSp>
          <p:nvGrpSpPr>
            <p:cNvPr id="10" name="contract-registry"/>
            <p:cNvGrpSpPr/>
            <p:nvPr/>
          </p:nvGrpSpPr>
          <p:grpSpPr>
            <a:xfrm>
              <a:off x="685800" y="1752600"/>
              <a:ext cx="5257800" cy="1409700"/>
              <a:chOff x="685800" y="1752600"/>
              <a:chExt cx="5257800" cy="140970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685800" y="1752600"/>
                <a:ext cx="5257800" cy="14097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905256" y="1898650"/>
                <a:ext cx="376133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CarbonCertRegistry · 认证存证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907542" y="2292350"/>
                <a:ext cx="29669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14 个外部函数：3 治理 · 3 写 · 8 读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907542" y="2559050"/>
                <a:ext cx="3666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certify / revoke / invalidateByEmissionId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907542" y="2825750"/>
                <a:ext cx="25580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按编号、防伪码、交易哈希查询</a:t>
                </a:r>
              </a:p>
            </p:txBody>
          </p:sp>
        </p:grpSp>
        <p:grpSp>
          <p:nvGrpSpPr>
            <p:cNvPr id="16" name="contract-compliance"/>
            <p:cNvGrpSpPr/>
            <p:nvPr/>
          </p:nvGrpSpPr>
          <p:grpSpPr>
            <a:xfrm>
              <a:off x="6019800" y="1752600"/>
              <a:ext cx="5486400" cy="1409700"/>
              <a:chOff x="6019800" y="1752600"/>
              <a:chExt cx="5486400" cy="14097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6019800" y="1752600"/>
                <a:ext cx="5486400" cy="14097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6239256" y="1898650"/>
                <a:ext cx="346019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CarbonCompliance · 合规判定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241542" y="2292350"/>
                <a:ext cx="356667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18 个外部函数：阈值与配额治理 + 五类判定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241542" y="2559050"/>
                <a:ext cx="20545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checkAll 返回规则位掩码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241542" y="2825750"/>
                <a:ext cx="25580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告警级别与中文文案由后端生成</a:t>
                </a:r>
              </a:p>
            </p:txBody>
          </p:sp>
        </p:grpSp>
      </p:grpSp>
      <p:grpSp>
        <p:nvGrpSpPr>
          <p:cNvPr id="52" name="compliance-rules"/>
          <p:cNvGrpSpPr/>
          <p:nvPr/>
        </p:nvGrpSpPr>
        <p:grpSpPr>
          <a:xfrm>
            <a:off x="685800" y="3429000"/>
            <a:ext cx="10820400" cy="2823083"/>
            <a:chOff x="685800" y="3429000"/>
            <a:chExt cx="10820400" cy="2823083"/>
          </a:xfrm>
        </p:grpSpPr>
        <p:sp>
          <p:nvSpPr>
            <p:cNvPr id="18" name="Rectangle 18"/>
            <p:cNvSpPr/>
            <p:nvPr/>
          </p:nvSpPr>
          <p:spPr>
            <a:xfrm>
              <a:off x="685800" y="3429000"/>
              <a:ext cx="10820400" cy="419100"/>
            </a:xfrm>
            <a:prstGeom prst="rect">
              <a:avLst/>
            </a:prstGeom>
            <a:solidFill>
              <a:srgbClr val="E6F0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1342" y="35496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74542" y="3549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判定依据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27442" y="3549650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阈值 / 条件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60405" y="35496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级别</a:t>
              </a:r>
            </a:p>
          </p:txBody>
        </p:sp>
        <p:grpSp>
          <p:nvGrpSpPr>
            <p:cNvPr id="28" name="rule-row-1"/>
            <p:cNvGrpSpPr/>
            <p:nvPr/>
          </p:nvGrpSpPr>
          <p:grpSpPr>
            <a:xfrm>
              <a:off x="685800" y="4006850"/>
              <a:ext cx="10820400" cy="307975"/>
              <a:chOff x="685800" y="4006850"/>
              <a:chExt cx="10820400" cy="307975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831342" y="40068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配额超限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574542" y="4006850"/>
                <a:ext cx="286698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企业年度累计排放 vs 链上年度配额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727442" y="4006850"/>
                <a:ext cx="9496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累计 &gt; 配额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0951274" y="4006850"/>
                <a:ext cx="195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高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685800" y="43053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34" name="rule-row-2"/>
            <p:cNvGrpSpPr/>
            <p:nvPr/>
          </p:nvGrpSpPr>
          <p:grpSpPr>
            <a:xfrm>
              <a:off x="685800" y="4502150"/>
              <a:ext cx="10820400" cy="307975"/>
              <a:chOff x="685800" y="4502150"/>
              <a:chExt cx="10820400" cy="307975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831342" y="45021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环比波动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574542" y="4502150"/>
                <a:ext cx="232177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本期总量 vs 上一报告期总量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727442" y="4502150"/>
                <a:ext cx="15948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默认 ±20%，可治理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0951274" y="4502150"/>
                <a:ext cx="195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高</a:t>
                </a:r>
              </a:p>
            </p:txBody>
          </p:sp>
          <p:sp>
            <p:nvSpPr>
              <p:cNvPr id="33" name="Line 33"/>
              <p:cNvSpPr/>
              <p:nvPr/>
            </p:nvSpPr>
            <p:spPr>
              <a:xfrm>
                <a:off x="685800" y="48006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40" name="rule-row-3"/>
            <p:cNvGrpSpPr/>
            <p:nvPr/>
          </p:nvGrpSpPr>
          <p:grpSpPr>
            <a:xfrm>
              <a:off x="685800" y="4997450"/>
              <a:ext cx="10820400" cy="307975"/>
              <a:chOff x="685800" y="4997450"/>
              <a:chExt cx="10820400" cy="307975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831342" y="4997450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活动数据缺失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574542" y="4997450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本期活动数据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727442" y="4997450"/>
                <a:ext cx="5316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等于 0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0951274" y="4997450"/>
                <a:ext cx="195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低</a:t>
                </a:r>
              </a:p>
            </p:txBody>
          </p:sp>
          <p:sp>
            <p:nvSpPr>
              <p:cNvPr id="39" name="Line 39"/>
              <p:cNvSpPr/>
              <p:nvPr/>
            </p:nvSpPr>
            <p:spPr>
              <a:xfrm>
                <a:off x="685800" y="52959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46" name="rule-row-4"/>
            <p:cNvGrpSpPr/>
            <p:nvPr/>
          </p:nvGrpSpPr>
          <p:grpSpPr>
            <a:xfrm>
              <a:off x="685800" y="5492750"/>
              <a:ext cx="10820400" cy="307975"/>
              <a:chOff x="685800" y="5492750"/>
              <a:chExt cx="10820400" cy="307975"/>
            </a:xfrm>
          </p:grpSpPr>
          <p:sp>
            <p:nvSpPr>
              <p:cNvPr id="41" name="TextBox 41"/>
              <p:cNvSpPr txBox="1"/>
              <p:nvPr/>
            </p:nvSpPr>
            <p:spPr>
              <a:xfrm>
                <a:off x="831342" y="5492750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排放因子不符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3574542" y="5492750"/>
                <a:ext cx="21400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本次因子 vs 同源历史因子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727442" y="5492750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不一致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0951274" y="5492750"/>
                <a:ext cx="195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中</a:t>
                </a:r>
              </a:p>
            </p:txBody>
          </p:sp>
          <p:sp>
            <p:nvSpPr>
              <p:cNvPr id="45" name="Line 45"/>
              <p:cNvSpPr/>
              <p:nvPr/>
            </p:nvSpPr>
            <p:spPr>
              <a:xfrm>
                <a:off x="685800" y="57912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51" name="rule-row-5"/>
            <p:cNvGrpSpPr/>
            <p:nvPr/>
          </p:nvGrpSpPr>
          <p:grpSpPr>
            <a:xfrm>
              <a:off x="831342" y="5988050"/>
              <a:ext cx="10315385" cy="264033"/>
              <a:chOff x="831342" y="5988050"/>
              <a:chExt cx="10315385" cy="264033"/>
            </a:xfrm>
          </p:grpSpPr>
          <p:sp>
            <p:nvSpPr>
              <p:cNvPr id="47" name="TextBox 47"/>
              <p:cNvSpPr txBox="1"/>
              <p:nvPr/>
            </p:nvSpPr>
            <p:spPr>
              <a:xfrm>
                <a:off x="831342" y="5988050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迟报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3574542" y="5988050"/>
                <a:ext cx="15948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报告期 vs 当前月份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727442" y="5988050"/>
                <a:ext cx="13131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默认超过 1 个月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0951274" y="5988050"/>
                <a:ext cx="195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中</a:t>
                </a:r>
              </a:p>
            </p:txBody>
          </p:sp>
        </p:grpSp>
      </p:grpSp>
      <p:grpSp>
        <p:nvGrpSpPr>
          <p:cNvPr id="56" name="footer"/>
          <p:cNvGrpSpPr/>
          <p:nvPr/>
        </p:nvGrpSpPr>
        <p:grpSpPr>
          <a:xfrm>
            <a:off x="679704" y="6419850"/>
            <a:ext cx="10832592" cy="329946"/>
            <a:chOff x="679704" y="6419850"/>
            <a:chExt cx="10832592" cy="329946"/>
          </a:xfrm>
        </p:grpSpPr>
        <p:sp>
          <p:nvSpPr>
            <p:cNvPr id="53" name="Line 53"/>
            <p:cNvSpPr/>
            <p:nvPr/>
          </p:nvSpPr>
          <p:spPr>
            <a:xfrm>
              <a:off x="685800" y="6419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9704" y="6515100"/>
              <a:ext cx="46404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链不可用时按 fallback-to-java 回退本地规则，填报流程不中断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322406" y="65151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6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69798" y="558800"/>
            <a:ext cx="5120640" cy="933577"/>
            <a:chOff x="669798" y="558800"/>
            <a:chExt cx="5120640" cy="93357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58800"/>
              <a:ext cx="1330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 / 存证状态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6300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三种状态，</a:t>
              </a:r>
              <a:r>
                <a:rPr lang="zh-CN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一条不可逆边界</a:t>
              </a:r>
            </a:p>
          </p:txBody>
        </p:sp>
      </p:grpSp>
      <p:grpSp>
        <p:nvGrpSpPr>
          <p:cNvPr id="22" name="state-machine"/>
          <p:cNvGrpSpPr/>
          <p:nvPr/>
        </p:nvGrpSpPr>
        <p:grpSpPr>
          <a:xfrm>
            <a:off x="1136142" y="1485900"/>
            <a:ext cx="4578858" cy="4118483"/>
            <a:chOff x="1136142" y="1485900"/>
            <a:chExt cx="4578858" cy="4118483"/>
          </a:xfrm>
        </p:grpSpPr>
        <p:sp>
          <p:nvSpPr>
            <p:cNvPr id="5" name="Rectangle 5"/>
            <p:cNvSpPr/>
            <p:nvPr/>
          </p:nvSpPr>
          <p:spPr>
            <a:xfrm>
              <a:off x="1143000" y="2171700"/>
              <a:ext cx="1600200" cy="8001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597914" y="2305050"/>
              <a:ext cx="6903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VALID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54505" y="26543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有效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000500" y="1485900"/>
              <a:ext cx="1714500" cy="7239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304218" y="1581150"/>
              <a:ext cx="1107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REVOKED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92051" y="1911350"/>
              <a:ext cx="1131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已撤销 · 终局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000500" y="3848100"/>
              <a:ext cx="1714500" cy="7239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398310" y="3943350"/>
              <a:ext cx="9188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INVALID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01182" y="4273550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已作废 · 可恢复</a:t>
              </a:r>
            </a:p>
          </p:txBody>
        </p:sp>
        <p:sp>
          <p:nvSpPr>
            <p:cNvPr id="14" name="Line 14"/>
            <p:cNvSpPr/>
            <p:nvPr/>
          </p:nvSpPr>
          <p:spPr>
            <a:xfrm flipV="1">
              <a:off x="2743200" y="1943100"/>
              <a:ext cx="1181100" cy="3429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851404" y="182880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revoke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743200" y="2667000"/>
              <a:ext cx="1181100" cy="142875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51404" y="3371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删除记录</a:t>
              </a:r>
            </a:p>
          </p:txBody>
        </p:sp>
        <p:sp>
          <p:nvSpPr>
            <p:cNvPr id="18" name="Line 18"/>
            <p:cNvSpPr/>
            <p:nvPr/>
          </p:nvSpPr>
          <p:spPr>
            <a:xfrm flipH="1" flipV="1">
              <a:off x="2743200" y="2857500"/>
              <a:ext cx="1352550" cy="9906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851404" y="2990850"/>
              <a:ext cx="9653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重新 certify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6142" y="5054600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核验先定位链上存证，再用排放编号关联业务库记录；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6142" y="534035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证书状态永远以链上为准。</a:t>
              </a:r>
            </a:p>
          </p:txBody>
        </p:sp>
      </p:grpSp>
      <p:grpSp>
        <p:nvGrpSpPr>
          <p:cNvPr id="36" name="cert-state-donut"/>
          <p:cNvGrpSpPr/>
          <p:nvPr/>
        </p:nvGrpSpPr>
        <p:grpSpPr>
          <a:xfrm>
            <a:off x="7239000" y="2190695"/>
            <a:ext cx="3678345" cy="3108888"/>
            <a:chOff x="7239000" y="2190695"/>
            <a:chExt cx="3678345" cy="3108888"/>
          </a:xfrm>
        </p:grpSpPr>
        <p:grpSp>
          <p:nvGrpSpPr>
            <p:cNvPr id="28" name="donut-sectors"/>
            <p:cNvGrpSpPr/>
            <p:nvPr/>
          </p:nvGrpSpPr>
          <p:grpSpPr>
            <a:xfrm>
              <a:off x="7846166" y="2190695"/>
              <a:ext cx="2611614" cy="2546499"/>
              <a:chOff x="7846166" y="2190695"/>
              <a:chExt cx="2611614" cy="254649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846166" y="2190695"/>
                <a:ext cx="2611614" cy="2546499"/>
              </a:xfrm>
              <a:custGeom>
                <a:avLst/>
                <a:gdLst/>
                <a:ahLst/>
                <a:cxnLst/>
                <a:rect l="l" t="t" r="r" b="b"/>
                <a:pathLst>
                  <a:path w="2611614" h="2546499">
                    <a:moveTo>
                      <a:pt x="1335934" y="495355"/>
                    </a:moveTo>
                    <a:lnTo>
                      <a:pt x="1335934" y="55"/>
                    </a:lnTo>
                    <a:cubicBezTo>
                      <a:pt x="1990766" y="0"/>
                      <a:pt x="2532431" y="509805"/>
                      <a:pt x="2572022" y="1163439"/>
                    </a:cubicBezTo>
                    <a:cubicBezTo>
                      <a:pt x="2611614" y="1817073"/>
                      <a:pt x="2135443" y="2388531"/>
                      <a:pt x="1485392" y="2467515"/>
                    </a:cubicBezTo>
                    <a:cubicBezTo>
                      <a:pt x="835341" y="2546499"/>
                      <a:pt x="236176" y="2105699"/>
                      <a:pt x="118088" y="1461603"/>
                    </a:cubicBezTo>
                    <a:cubicBezTo>
                      <a:pt x="0" y="817507"/>
                      <a:pt x="403819" y="192821"/>
                      <a:pt x="1039611" y="36060"/>
                    </a:cubicBezTo>
                    <a:lnTo>
                      <a:pt x="1158102" y="516977"/>
                    </a:lnTo>
                    <a:cubicBezTo>
                      <a:pt x="776641" y="611073"/>
                      <a:pt x="534390" y="985905"/>
                      <a:pt x="605278" y="1372352"/>
                    </a:cubicBezTo>
                    <a:cubicBezTo>
                      <a:pt x="676166" y="1758799"/>
                      <a:pt x="1035684" y="2023245"/>
                      <a:pt x="1425707" y="1975824"/>
                    </a:cubicBezTo>
                    <a:cubicBezTo>
                      <a:pt x="1815730" y="1928403"/>
                      <a:pt x="2101404" y="1585511"/>
                      <a:pt x="2077623" y="1193336"/>
                    </a:cubicBezTo>
                    <a:cubicBezTo>
                      <a:pt x="2053842" y="801161"/>
                      <a:pt x="1728829" y="495301"/>
                      <a:pt x="1335934" y="4953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885777" y="2190750"/>
                <a:ext cx="296323" cy="516922"/>
              </a:xfrm>
              <a:custGeom>
                <a:avLst/>
                <a:gdLst/>
                <a:ahLst/>
                <a:cxnLst/>
                <a:rect l="l" t="t" r="r" b="b"/>
                <a:pathLst>
                  <a:path w="296323" h="516922">
                    <a:moveTo>
                      <a:pt x="118491" y="516922"/>
                    </a:moveTo>
                    <a:lnTo>
                      <a:pt x="0" y="36005"/>
                    </a:lnTo>
                    <a:cubicBezTo>
                      <a:pt x="96961" y="12098"/>
                      <a:pt x="196458" y="8"/>
                      <a:pt x="296323" y="0"/>
                    </a:cubicBezTo>
                    <a:lnTo>
                      <a:pt x="296323" y="495300"/>
                    </a:lnTo>
                    <a:cubicBezTo>
                      <a:pt x="236390" y="495308"/>
                      <a:pt x="176679" y="502568"/>
                      <a:pt x="118491" y="51692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8439150" y="2686050"/>
                <a:ext cx="1485900" cy="1485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883937" y="3022600"/>
                <a:ext cx="596326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6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52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811768" y="35877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链上存证</a:t>
                </a:r>
              </a:p>
            </p:txBody>
          </p:sp>
        </p:grpSp>
        <p:grpSp>
          <p:nvGrpSpPr>
            <p:cNvPr id="35" name="donut-legend"/>
            <p:cNvGrpSpPr/>
            <p:nvPr/>
          </p:nvGrpSpPr>
          <p:grpSpPr>
            <a:xfrm>
              <a:off x="7239000" y="5035550"/>
              <a:ext cx="3678345" cy="264033"/>
              <a:chOff x="7239000" y="5035550"/>
              <a:chExt cx="3678345" cy="264033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7239000" y="5086350"/>
                <a:ext cx="114300" cy="114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441692" y="5035550"/>
                <a:ext cx="6316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有效 50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8572500" y="5086350"/>
                <a:ext cx="114300" cy="114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775192" y="5035550"/>
                <a:ext cx="713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已撤销 2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10001250" y="5086350"/>
                <a:ext cx="114300" cy="1143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0203942" y="5035550"/>
                <a:ext cx="713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已作废 0</a:t>
                </a:r>
              </a:p>
            </p:txBody>
          </p:sp>
        </p:grpSp>
      </p:grpSp>
      <p:grpSp>
        <p:nvGrpSpPr>
          <p:cNvPr id="40" name="footer"/>
          <p:cNvGrpSpPr/>
          <p:nvPr/>
        </p:nvGrpSpPr>
        <p:grpSpPr>
          <a:xfrm>
            <a:off x="679704" y="6419850"/>
            <a:ext cx="10832592" cy="329946"/>
            <a:chOff x="679704" y="6419850"/>
            <a:chExt cx="10832592" cy="329946"/>
          </a:xfrm>
        </p:grpSpPr>
        <p:sp>
          <p:nvSpPr>
            <p:cNvPr id="37" name="Line 37"/>
            <p:cNvSpPr/>
            <p:nvPr/>
          </p:nvSpPr>
          <p:spPr>
            <a:xfrm>
              <a:off x="685800" y="6419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9704" y="6515100"/>
              <a:ext cx="43011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防伪码以 keccak256 原始字节索引，大小写敏感、精确匹配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322406" y="65151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69798" y="558800"/>
            <a:ext cx="6592104" cy="933577"/>
            <a:chOff x="669798" y="558800"/>
            <a:chExt cx="6592104" cy="93357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58800"/>
              <a:ext cx="1330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07 / 数据模型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6300"/>
              <a:ext cx="659210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13 张表，</a:t>
              </a:r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三张核心表共用一个编号</a:t>
              </a:r>
            </a:p>
          </p:txBody>
        </p:sp>
      </p:grpSp>
      <p:grpSp>
        <p:nvGrpSpPr>
          <p:cNvPr id="32" name="er-model"/>
          <p:cNvGrpSpPr/>
          <p:nvPr/>
        </p:nvGrpSpPr>
        <p:grpSpPr>
          <a:xfrm>
            <a:off x="907542" y="1638300"/>
            <a:ext cx="6532314" cy="3851783"/>
            <a:chOff x="907542" y="1638300"/>
            <a:chExt cx="6532314" cy="3851783"/>
          </a:xfrm>
        </p:grpSpPr>
        <p:sp>
          <p:nvSpPr>
            <p:cNvPr id="5" name="Rectangle 5"/>
            <p:cNvSpPr/>
            <p:nvPr/>
          </p:nvSpPr>
          <p:spPr>
            <a:xfrm>
              <a:off x="914400" y="2286000"/>
              <a:ext cx="1485900" cy="6858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59942" y="2406650"/>
              <a:ext cx="11204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enterprises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60704" y="26670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企业档案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048000" y="2038350"/>
              <a:ext cx="1943100" cy="990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193542" y="2178050"/>
              <a:ext cx="1635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emission_records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194304" y="2438400"/>
              <a:ext cx="1974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period · amount · status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94304" y="2686050"/>
              <a:ext cx="908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fingerprint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524500" y="1638300"/>
              <a:ext cx="1600200" cy="723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670042" y="1758950"/>
              <a:ext cx="14830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report_records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70804" y="2019300"/>
              <a:ext cx="13126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status · auditor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219700" y="3086100"/>
              <a:ext cx="1600200" cy="8191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65242" y="3206750"/>
              <a:ext cx="20746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certification_records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66004" y="3467100"/>
              <a:ext cx="1619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status · revoked_at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66004" y="36766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防伪码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048000" y="4000500"/>
              <a:ext cx="1943100" cy="6286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193542" y="4121150"/>
              <a:ext cx="595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alerts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194304" y="4362450"/>
              <a:ext cx="16357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type · level · status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2400300" y="2533650"/>
              <a:ext cx="571500" cy="95250"/>
            </a:xfrm>
            <a:custGeom>
              <a:avLst/>
              <a:gdLst/>
              <a:ahLst/>
              <a:cxnLst/>
              <a:rect l="l" t="t" r="r" b="b"/>
              <a:pathLst>
                <a:path w="571500" h="95250">
                  <a:moveTo>
                    <a:pt x="0" y="9525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5F7067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470404" y="226695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1:N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4991100" y="2076450"/>
              <a:ext cx="457200" cy="285750"/>
            </a:xfrm>
            <a:custGeom>
              <a:avLst/>
              <a:gdLst/>
              <a:ahLst/>
              <a:cxnLst/>
              <a:rect l="l" t="t" r="r" b="b"/>
              <a:pathLst>
                <a:path w="457200" h="285750">
                  <a:moveTo>
                    <a:pt x="0" y="285750"/>
                  </a:moveTo>
                  <a:lnTo>
                    <a:pt x="457200" y="0"/>
                  </a:lnTo>
                </a:path>
              </a:pathLst>
            </a:custGeom>
            <a:noFill/>
            <a:ln w="14288">
              <a:solidFill>
                <a:srgbClr val="5F7067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080254" y="19621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1:1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991100" y="2743200"/>
              <a:ext cx="457200" cy="609600"/>
            </a:xfrm>
            <a:custGeom>
              <a:avLst/>
              <a:gdLst/>
              <a:ahLst/>
              <a:cxnLst/>
              <a:rect l="l" t="t" r="r" b="b"/>
              <a:pathLst>
                <a:path w="457200" h="609600">
                  <a:moveTo>
                    <a:pt x="0" y="0"/>
                  </a:moveTo>
                  <a:lnTo>
                    <a:pt x="457200" y="609600"/>
                  </a:lnTo>
                </a:path>
              </a:pathLst>
            </a:custGeom>
            <a:noFill/>
            <a:ln w="14288">
              <a:solidFill>
                <a:srgbClr val="5F7067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080254" y="29908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1:1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4019550" y="3028950"/>
              <a:ext cx="9525" cy="895350"/>
            </a:xfrm>
            <a:custGeom>
              <a:avLst/>
              <a:gdLst/>
              <a:ahLst/>
              <a:cxnLst/>
              <a:rect l="l" t="t" r="r" b="b"/>
              <a:pathLst>
                <a:path w="9525" h="895350">
                  <a:moveTo>
                    <a:pt x="0" y="0"/>
                  </a:moveTo>
                  <a:lnTo>
                    <a:pt x="0" y="895350"/>
                  </a:lnTo>
                </a:path>
              </a:pathLst>
            </a:custGeom>
            <a:noFill/>
            <a:ln w="14288">
              <a:solidFill>
                <a:srgbClr val="5F7067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108704" y="339090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1:N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7542" y="4940300"/>
              <a:ext cx="48024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张业务表 + audit_logs / id_sequences 两张历史辅助表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7542" y="5226050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触发器自动派生报告、同步关键字段、删除时级联清理</a:t>
              </a:r>
            </a:p>
          </p:txBody>
        </p:sp>
      </p:grpSp>
      <p:grpSp>
        <p:nvGrpSpPr>
          <p:cNvPr id="50" name="numbering"/>
          <p:cNvGrpSpPr/>
          <p:nvPr/>
        </p:nvGrpSpPr>
        <p:grpSpPr>
          <a:xfrm>
            <a:off x="7610856" y="1771650"/>
            <a:ext cx="3895344" cy="4057650"/>
            <a:chOff x="7610856" y="1771650"/>
            <a:chExt cx="3895344" cy="4057650"/>
          </a:xfrm>
        </p:grpSpPr>
        <p:sp>
          <p:nvSpPr>
            <p:cNvPr id="33" name="Line 33"/>
            <p:cNvSpPr/>
            <p:nvPr/>
          </p:nvSpPr>
          <p:spPr>
            <a:xfrm>
              <a:off x="7620000" y="1771650"/>
              <a:ext cx="3886200" cy="9525"/>
            </a:xfrm>
            <a:custGeom>
              <a:avLst/>
              <a:gdLst/>
              <a:ahLst/>
              <a:cxnLst/>
              <a:rect l="l" t="t" r="r" b="b"/>
              <a:pathLst>
                <a:path w="3886200" h="9525">
                  <a:moveTo>
                    <a:pt x="0" y="0"/>
                  </a:moveTo>
                  <a:lnTo>
                    <a:pt x="3886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10856" y="199390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编号与并发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13142" y="2559050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56042" y="25590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计数器取号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13904" y="2819400"/>
              <a:ext cx="2679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AtomicLong，以三表最大编号为起点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13142" y="3244850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56042" y="32448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锁内查占用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13904" y="350520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排放 / 报告 / 认证三表，毫秒级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13142" y="3930650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56042" y="39306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锁外查链上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13904" y="4191000"/>
              <a:ext cx="1974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约 2 秒，避免串行化写请求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620000" y="4686300"/>
              <a:ext cx="3886200" cy="1143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803642" y="484505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修复前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65642" y="48450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 并发仅 1 成功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03642" y="516890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修复后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65642" y="5168900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6/6、4/4 成功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04404" y="5505450"/>
              <a:ext cx="1983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并发填报总耗时 17.3 秒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679704" y="6419850"/>
            <a:ext cx="10832592" cy="329946"/>
            <a:chOff x="679704" y="6419850"/>
            <a:chExt cx="10832592" cy="329946"/>
          </a:xfrm>
        </p:grpSpPr>
        <p:sp>
          <p:nvSpPr>
            <p:cNvPr id="51" name="Line 51"/>
            <p:cNvSpPr/>
            <p:nvPr/>
          </p:nvSpPr>
          <p:spPr>
            <a:xfrm>
              <a:off x="685800" y="6419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9704" y="651510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编号在链上只追加不删除，新编号必须避开链上遗留存证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322406" y="65151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6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69798" y="558800"/>
            <a:ext cx="6168051" cy="933577"/>
            <a:chOff x="669798" y="558800"/>
            <a:chExt cx="6168051" cy="93357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58800"/>
              <a:ext cx="1532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08 / 接口与权限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6300"/>
              <a:ext cx="616805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76 个接口，</a:t>
              </a:r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按角色收敛数据边界</a:t>
              </a:r>
            </a:p>
          </p:txBody>
        </p:sp>
      </p:grpSp>
      <p:grpSp>
        <p:nvGrpSpPr>
          <p:cNvPr id="79" name="api-distribution"/>
          <p:cNvGrpSpPr/>
          <p:nvPr/>
        </p:nvGrpSpPr>
        <p:grpSpPr>
          <a:xfrm>
            <a:off x="1138428" y="2038350"/>
            <a:ext cx="5827166" cy="4178046"/>
            <a:chOff x="1138428" y="2038350"/>
            <a:chExt cx="5827166" cy="4178046"/>
          </a:xfrm>
        </p:grpSpPr>
        <p:grpSp>
          <p:nvGrpSpPr>
            <p:cNvPr id="78" name="api-distribution-chartArea"/>
            <p:cNvGrpSpPr/>
            <p:nvPr/>
          </p:nvGrpSpPr>
          <p:grpSpPr>
            <a:xfrm>
              <a:off x="1138428" y="2038350"/>
              <a:ext cx="5827166" cy="4178046"/>
              <a:chOff x="1138428" y="2038350"/>
              <a:chExt cx="5827166" cy="4178046"/>
            </a:xfrm>
          </p:grpSpPr>
          <p:sp>
            <p:nvSpPr>
              <p:cNvPr id="5" name="Line 5"/>
              <p:cNvSpPr/>
              <p:nvPr/>
            </p:nvSpPr>
            <p:spPr>
              <a:xfrm>
                <a:off x="1905000" y="2038350"/>
                <a:ext cx="9525" cy="386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67150">
                    <a:moveTo>
                      <a:pt x="0" y="0"/>
                    </a:moveTo>
                    <a:lnTo>
                      <a:pt x="0" y="386715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6" name="Line 6"/>
              <p:cNvSpPr/>
              <p:nvPr/>
            </p:nvSpPr>
            <p:spPr>
              <a:xfrm>
                <a:off x="1905000" y="5905500"/>
                <a:ext cx="476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9525">
                    <a:moveTo>
                      <a:pt x="0" y="0"/>
                    </a:moveTo>
                    <a:lnTo>
                      <a:pt x="47625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3492818" y="2038350"/>
                <a:ext cx="9525" cy="386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67150">
                    <a:moveTo>
                      <a:pt x="0" y="0"/>
                    </a:moveTo>
                    <a:lnTo>
                      <a:pt x="0" y="386715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  <a:prstDash val="dash"/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5079682" y="2038350"/>
                <a:ext cx="9525" cy="386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67150">
                    <a:moveTo>
                      <a:pt x="0" y="0"/>
                    </a:moveTo>
                    <a:lnTo>
                      <a:pt x="0" y="386715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  <a:prstDash val="dash"/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6667500" y="2038350"/>
                <a:ext cx="9525" cy="386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67150">
                    <a:moveTo>
                      <a:pt x="0" y="0"/>
                    </a:moveTo>
                    <a:lnTo>
                      <a:pt x="0" y="386715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  <a:prstDash val="dash"/>
              </a:ln>
            </p:spPr>
          </p:sp>
          <p:grpSp>
            <p:nvGrpSpPr>
              <p:cNvPr id="13" name="bar-stat"/>
              <p:cNvGrpSpPr/>
              <p:nvPr/>
            </p:nvGrpSpPr>
            <p:grpSpPr>
              <a:xfrm>
                <a:off x="1461516" y="2076450"/>
                <a:ext cx="5504078" cy="234696"/>
                <a:chOff x="1461516" y="2076450"/>
                <a:chExt cx="5504078" cy="234696"/>
              </a:xfrm>
            </p:grpSpPr>
            <p:sp>
              <p:nvSpPr>
                <p:cNvPr id="10" name="TextBox 10"/>
                <p:cNvSpPr txBox="1"/>
                <p:nvPr/>
              </p:nvSpPr>
              <p:spPr>
                <a:xfrm>
                  <a:off x="1461516" y="2076450"/>
                  <a:ext cx="33528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统计</a:t>
                  </a:r>
                </a:p>
              </p:txBody>
            </p:sp>
            <p:sp>
              <p:nvSpPr>
                <p:cNvPr id="11" name="Rectangle 11"/>
                <p:cNvSpPr/>
                <p:nvPr/>
              </p:nvSpPr>
              <p:spPr>
                <a:xfrm>
                  <a:off x="1905000" y="2083118"/>
                  <a:ext cx="4762500" cy="1524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6775704" y="2076450"/>
                  <a:ext cx="18989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15</a:t>
                  </a:r>
                </a:p>
              </p:txBody>
            </p:sp>
          </p:grpSp>
          <p:grpSp>
            <p:nvGrpSpPr>
              <p:cNvPr id="17" name="bar-user"/>
              <p:cNvGrpSpPr/>
              <p:nvPr/>
            </p:nvGrpSpPr>
            <p:grpSpPr>
              <a:xfrm>
                <a:off x="1138428" y="2314575"/>
                <a:ext cx="3516135" cy="234696"/>
                <a:chOff x="1138428" y="2314575"/>
                <a:chExt cx="3516135" cy="234696"/>
              </a:xfrm>
            </p:grpSpPr>
            <p:sp>
              <p:nvSpPr>
                <p:cNvPr id="14" name="TextBox 14"/>
                <p:cNvSpPr txBox="1"/>
                <p:nvPr/>
              </p:nvSpPr>
              <p:spPr>
                <a:xfrm>
                  <a:off x="1138428" y="2314575"/>
                  <a:ext cx="65836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用户管理</a:t>
                  </a:r>
                </a:p>
              </p:txBody>
            </p:sp>
            <p:sp>
              <p:nvSpPr>
                <p:cNvPr id="15" name="Rectangle 15"/>
                <p:cNvSpPr/>
                <p:nvPr/>
              </p:nvSpPr>
              <p:spPr>
                <a:xfrm>
                  <a:off x="1905000" y="2325052"/>
                  <a:ext cx="2540318" cy="1524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4553522" y="2314575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8</a:t>
                  </a:r>
                </a:p>
              </p:txBody>
            </p:sp>
          </p:grpSp>
          <p:grpSp>
            <p:nvGrpSpPr>
              <p:cNvPr id="21" name="bar-enterprise"/>
              <p:cNvGrpSpPr/>
              <p:nvPr/>
            </p:nvGrpSpPr>
            <p:grpSpPr>
              <a:xfrm>
                <a:off x="1138428" y="2562225"/>
                <a:ext cx="2880817" cy="234696"/>
                <a:chOff x="1138428" y="2562225"/>
                <a:chExt cx="2880817" cy="234696"/>
              </a:xfrm>
            </p:grpSpPr>
            <p:sp>
              <p:nvSpPr>
                <p:cNvPr id="18" name="TextBox 18"/>
                <p:cNvSpPr txBox="1"/>
                <p:nvPr/>
              </p:nvSpPr>
              <p:spPr>
                <a:xfrm>
                  <a:off x="1138428" y="2562225"/>
                  <a:ext cx="65836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企业管理</a:t>
                  </a:r>
                </a:p>
              </p:txBody>
            </p:sp>
            <p:sp>
              <p:nvSpPr>
                <p:cNvPr id="19" name="Rectangle 19"/>
                <p:cNvSpPr/>
                <p:nvPr/>
              </p:nvSpPr>
              <p:spPr>
                <a:xfrm>
                  <a:off x="1905000" y="2566988"/>
                  <a:ext cx="1905000" cy="1524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3918204" y="2562225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6</a:t>
                  </a:r>
                </a:p>
              </p:txBody>
            </p:sp>
          </p:grpSp>
          <p:grpSp>
            <p:nvGrpSpPr>
              <p:cNvPr id="25" name="bar-compliance"/>
              <p:cNvGrpSpPr/>
              <p:nvPr/>
            </p:nvGrpSpPr>
            <p:grpSpPr>
              <a:xfrm>
                <a:off x="1138428" y="2800350"/>
                <a:ext cx="2880817" cy="234696"/>
                <a:chOff x="1138428" y="2800350"/>
                <a:chExt cx="2880817" cy="234696"/>
              </a:xfrm>
            </p:grpSpPr>
            <p:sp>
              <p:nvSpPr>
                <p:cNvPr id="22" name="TextBox 22"/>
                <p:cNvSpPr txBox="1"/>
                <p:nvPr/>
              </p:nvSpPr>
              <p:spPr>
                <a:xfrm>
                  <a:off x="1138428" y="2800350"/>
                  <a:ext cx="65836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合规治理</a:t>
                  </a:r>
                </a:p>
              </p:txBody>
            </p:sp>
            <p:sp>
              <p:nvSpPr>
                <p:cNvPr id="23" name="Rectangle 23"/>
                <p:cNvSpPr/>
                <p:nvPr/>
              </p:nvSpPr>
              <p:spPr>
                <a:xfrm>
                  <a:off x="1905000" y="2807970"/>
                  <a:ext cx="1905000" cy="1524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3918204" y="280035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6</a:t>
                  </a:r>
                </a:p>
              </p:txBody>
            </p:sp>
          </p:grpSp>
          <p:grpSp>
            <p:nvGrpSpPr>
              <p:cNvPr id="29" name="bar-cert"/>
              <p:cNvGrpSpPr/>
              <p:nvPr/>
            </p:nvGrpSpPr>
            <p:grpSpPr>
              <a:xfrm>
                <a:off x="1138428" y="3038475"/>
                <a:ext cx="2563635" cy="234696"/>
                <a:chOff x="1138428" y="3038475"/>
                <a:chExt cx="2563635" cy="234696"/>
              </a:xfrm>
            </p:grpSpPr>
            <p:sp>
              <p:nvSpPr>
                <p:cNvPr id="26" name="TextBox 26"/>
                <p:cNvSpPr txBox="1"/>
                <p:nvPr/>
              </p:nvSpPr>
              <p:spPr>
                <a:xfrm>
                  <a:off x="1138428" y="3038475"/>
                  <a:ext cx="65836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认证记录</a:t>
                  </a:r>
                </a:p>
              </p:txBody>
            </p:sp>
            <p:sp>
              <p:nvSpPr>
                <p:cNvPr id="27" name="Rectangle 27"/>
                <p:cNvSpPr/>
                <p:nvPr/>
              </p:nvSpPr>
              <p:spPr>
                <a:xfrm>
                  <a:off x="1905000" y="3049905"/>
                  <a:ext cx="1587818" cy="1524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3601022" y="3038475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5</a:t>
                  </a:r>
                </a:p>
              </p:txBody>
            </p:sp>
          </p:grpSp>
          <p:grpSp>
            <p:nvGrpSpPr>
              <p:cNvPr id="33" name="bar-public"/>
              <p:cNvGrpSpPr/>
              <p:nvPr/>
            </p:nvGrpSpPr>
            <p:grpSpPr>
              <a:xfrm>
                <a:off x="1299972" y="3286125"/>
                <a:ext cx="2402091" cy="234696"/>
                <a:chOff x="1299972" y="3286125"/>
                <a:chExt cx="2402091" cy="234696"/>
              </a:xfrm>
            </p:grpSpPr>
            <p:sp>
              <p:nvSpPr>
                <p:cNvPr id="30" name="TextBox 30"/>
                <p:cNvSpPr txBox="1"/>
                <p:nvPr/>
              </p:nvSpPr>
              <p:spPr>
                <a:xfrm>
                  <a:off x="1299972" y="3286125"/>
                  <a:ext cx="49682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公共端</a:t>
                  </a:r>
                </a:p>
              </p:txBody>
            </p:sp>
            <p:sp>
              <p:nvSpPr>
                <p:cNvPr id="31" name="Rectangle 31"/>
                <p:cNvSpPr/>
                <p:nvPr/>
              </p:nvSpPr>
              <p:spPr>
                <a:xfrm>
                  <a:off x="1905000" y="3291840"/>
                  <a:ext cx="1587818" cy="1524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3601022" y="3286125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5</a:t>
                  </a:r>
                </a:p>
              </p:txBody>
            </p:sp>
          </p:grpSp>
          <p:grpSp>
            <p:nvGrpSpPr>
              <p:cNvPr id="37" name="bar-auditorg"/>
              <p:cNvGrpSpPr/>
              <p:nvPr/>
            </p:nvGrpSpPr>
            <p:grpSpPr>
              <a:xfrm>
                <a:off x="1138428" y="3524250"/>
                <a:ext cx="2245500" cy="234696"/>
                <a:chOff x="1138428" y="3524250"/>
                <a:chExt cx="2245500" cy="234696"/>
              </a:xfrm>
            </p:grpSpPr>
            <p:sp>
              <p:nvSpPr>
                <p:cNvPr id="34" name="TextBox 34"/>
                <p:cNvSpPr txBox="1"/>
                <p:nvPr/>
              </p:nvSpPr>
              <p:spPr>
                <a:xfrm>
                  <a:off x="1138428" y="3524250"/>
                  <a:ext cx="65836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审核机构</a:t>
                  </a:r>
                </a:p>
              </p:txBody>
            </p:sp>
            <p:sp>
              <p:nvSpPr>
                <p:cNvPr id="35" name="Rectangle 35"/>
                <p:cNvSpPr/>
                <p:nvPr/>
              </p:nvSpPr>
              <p:spPr>
                <a:xfrm>
                  <a:off x="1905000" y="3533775"/>
                  <a:ext cx="1269682" cy="1524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3282887" y="352425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4</a:t>
                  </a:r>
                </a:p>
              </p:txBody>
            </p:sp>
          </p:grpSp>
          <p:grpSp>
            <p:nvGrpSpPr>
              <p:cNvPr id="41" name="bar-factor"/>
              <p:cNvGrpSpPr/>
              <p:nvPr/>
            </p:nvGrpSpPr>
            <p:grpSpPr>
              <a:xfrm>
                <a:off x="1138428" y="3762375"/>
                <a:ext cx="2245500" cy="234696"/>
                <a:chOff x="1138428" y="3762375"/>
                <a:chExt cx="2245500" cy="234696"/>
              </a:xfrm>
            </p:grpSpPr>
            <p:sp>
              <p:nvSpPr>
                <p:cNvPr id="38" name="TextBox 38"/>
                <p:cNvSpPr txBox="1"/>
                <p:nvPr/>
              </p:nvSpPr>
              <p:spPr>
                <a:xfrm>
                  <a:off x="1138428" y="3762375"/>
                  <a:ext cx="65836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排放因子</a:t>
                  </a:r>
                </a:p>
              </p:txBody>
            </p:sp>
            <p:sp>
              <p:nvSpPr>
                <p:cNvPr id="39" name="Rectangle 39"/>
                <p:cNvSpPr/>
                <p:nvPr/>
              </p:nvSpPr>
              <p:spPr>
                <a:xfrm>
                  <a:off x="1905000" y="3774758"/>
                  <a:ext cx="1269682" cy="1524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3282887" y="3762375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4</a:t>
                  </a:r>
                </a:p>
              </p:txBody>
            </p:sp>
          </p:grpSp>
          <p:grpSp>
            <p:nvGrpSpPr>
              <p:cNvPr id="45" name="bar-emission"/>
              <p:cNvGrpSpPr/>
              <p:nvPr/>
            </p:nvGrpSpPr>
            <p:grpSpPr>
              <a:xfrm>
                <a:off x="1138428" y="4010025"/>
                <a:ext cx="2245500" cy="234696"/>
                <a:chOff x="1138428" y="4010025"/>
                <a:chExt cx="2245500" cy="234696"/>
              </a:xfrm>
            </p:grpSpPr>
            <p:sp>
              <p:nvSpPr>
                <p:cNvPr id="42" name="TextBox 42"/>
                <p:cNvSpPr txBox="1"/>
                <p:nvPr/>
              </p:nvSpPr>
              <p:spPr>
                <a:xfrm>
                  <a:off x="1138428" y="4010025"/>
                  <a:ext cx="65836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排放记录</a:t>
                  </a:r>
                </a:p>
              </p:txBody>
            </p:sp>
            <p:sp>
              <p:nvSpPr>
                <p:cNvPr id="43" name="Rectangle 43"/>
                <p:cNvSpPr/>
                <p:nvPr/>
              </p:nvSpPr>
              <p:spPr>
                <a:xfrm>
                  <a:off x="1905000" y="4016692"/>
                  <a:ext cx="1269682" cy="1524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3282887" y="4010025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4</a:t>
                  </a:r>
                </a:p>
              </p:txBody>
            </p:sp>
          </p:grpSp>
          <p:grpSp>
            <p:nvGrpSpPr>
              <p:cNvPr id="49" name="bar-report"/>
              <p:cNvGrpSpPr/>
              <p:nvPr/>
            </p:nvGrpSpPr>
            <p:grpSpPr>
              <a:xfrm>
                <a:off x="1138428" y="4248150"/>
                <a:ext cx="2245500" cy="234696"/>
                <a:chOff x="1138428" y="4248150"/>
                <a:chExt cx="2245500" cy="234696"/>
              </a:xfrm>
            </p:grpSpPr>
            <p:sp>
              <p:nvSpPr>
                <p:cNvPr id="46" name="TextBox 46"/>
                <p:cNvSpPr txBox="1"/>
                <p:nvPr/>
              </p:nvSpPr>
              <p:spPr>
                <a:xfrm>
                  <a:off x="1138428" y="4248150"/>
                  <a:ext cx="65836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报告记录</a:t>
                  </a:r>
                </a:p>
              </p:txBody>
            </p:sp>
            <p:sp>
              <p:nvSpPr>
                <p:cNvPr id="47" name="Rectangle 47"/>
                <p:cNvSpPr/>
                <p:nvPr/>
              </p:nvSpPr>
              <p:spPr>
                <a:xfrm>
                  <a:off x="1905000" y="4258628"/>
                  <a:ext cx="1269682" cy="1524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3282887" y="424815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4</a:t>
                  </a:r>
                </a:p>
              </p:txBody>
            </p:sp>
          </p:grpSp>
          <p:grpSp>
            <p:nvGrpSpPr>
              <p:cNvPr id="53" name="bar-regorg"/>
              <p:cNvGrpSpPr/>
              <p:nvPr/>
            </p:nvGrpSpPr>
            <p:grpSpPr>
              <a:xfrm>
                <a:off x="1138428" y="4486275"/>
                <a:ext cx="2245500" cy="234696"/>
                <a:chOff x="1138428" y="4486275"/>
                <a:chExt cx="2245500" cy="234696"/>
              </a:xfrm>
            </p:grpSpPr>
            <p:sp>
              <p:nvSpPr>
                <p:cNvPr id="50" name="TextBox 50"/>
                <p:cNvSpPr txBox="1"/>
                <p:nvPr/>
              </p:nvSpPr>
              <p:spPr>
                <a:xfrm>
                  <a:off x="1138428" y="4486275"/>
                  <a:ext cx="65836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监管机构</a:t>
                  </a:r>
                </a:p>
              </p:txBody>
            </p:sp>
            <p:sp>
              <p:nvSpPr>
                <p:cNvPr id="51" name="Rectangle 51"/>
                <p:cNvSpPr/>
                <p:nvPr/>
              </p:nvSpPr>
              <p:spPr>
                <a:xfrm>
                  <a:off x="1905000" y="4500562"/>
                  <a:ext cx="1269682" cy="1524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3282887" y="4486275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4</a:t>
                  </a:r>
                </a:p>
              </p:txBody>
            </p:sp>
          </p:grpSp>
          <p:grpSp>
            <p:nvGrpSpPr>
              <p:cNvPr id="57" name="bar-alert"/>
              <p:cNvGrpSpPr/>
              <p:nvPr/>
            </p:nvGrpSpPr>
            <p:grpSpPr>
              <a:xfrm>
                <a:off x="1461516" y="4733925"/>
                <a:ext cx="1605229" cy="234696"/>
                <a:chOff x="1461516" y="4733925"/>
                <a:chExt cx="1605229" cy="234696"/>
              </a:xfrm>
            </p:grpSpPr>
            <p:sp>
              <p:nvSpPr>
                <p:cNvPr id="54" name="TextBox 54"/>
                <p:cNvSpPr txBox="1"/>
                <p:nvPr/>
              </p:nvSpPr>
              <p:spPr>
                <a:xfrm>
                  <a:off x="1461516" y="4733925"/>
                  <a:ext cx="33528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告警</a:t>
                  </a:r>
                </a:p>
              </p:txBody>
            </p:sp>
            <p:sp>
              <p:nvSpPr>
                <p:cNvPr id="55" name="Rectangle 55"/>
                <p:cNvSpPr/>
                <p:nvPr/>
              </p:nvSpPr>
              <p:spPr>
                <a:xfrm>
                  <a:off x="1905000" y="4741545"/>
                  <a:ext cx="952500" cy="1524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2965704" y="4733925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</p:grpSp>
          <p:grpSp>
            <p:nvGrpSpPr>
              <p:cNvPr id="61" name="bar-auth"/>
              <p:cNvGrpSpPr/>
              <p:nvPr/>
            </p:nvGrpSpPr>
            <p:grpSpPr>
              <a:xfrm>
                <a:off x="1461516" y="4972050"/>
                <a:ext cx="1605229" cy="234696"/>
                <a:chOff x="1461516" y="4972050"/>
                <a:chExt cx="1605229" cy="234696"/>
              </a:xfrm>
            </p:grpSpPr>
            <p:sp>
              <p:nvSpPr>
                <p:cNvPr id="58" name="TextBox 58"/>
                <p:cNvSpPr txBox="1"/>
                <p:nvPr/>
              </p:nvSpPr>
              <p:spPr>
                <a:xfrm>
                  <a:off x="1461516" y="4972050"/>
                  <a:ext cx="33528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鉴权</a:t>
                  </a:r>
                </a:p>
              </p:txBody>
            </p:sp>
            <p:sp>
              <p:nvSpPr>
                <p:cNvPr id="59" name="Rectangle 59"/>
                <p:cNvSpPr/>
                <p:nvPr/>
              </p:nvSpPr>
              <p:spPr>
                <a:xfrm>
                  <a:off x="1905000" y="4983480"/>
                  <a:ext cx="952500" cy="1524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2965704" y="497205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</p:grpSp>
          <p:grpSp>
            <p:nvGrpSpPr>
              <p:cNvPr id="65" name="bar-blockchain"/>
              <p:cNvGrpSpPr/>
              <p:nvPr/>
            </p:nvGrpSpPr>
            <p:grpSpPr>
              <a:xfrm>
                <a:off x="1299972" y="5219700"/>
                <a:ext cx="1766773" cy="234696"/>
                <a:chOff x="1299972" y="5219700"/>
                <a:chExt cx="1766773" cy="234696"/>
              </a:xfrm>
            </p:grpSpPr>
            <p:sp>
              <p:nvSpPr>
                <p:cNvPr id="62" name="TextBox 62"/>
                <p:cNvSpPr txBox="1"/>
                <p:nvPr/>
              </p:nvSpPr>
              <p:spPr>
                <a:xfrm>
                  <a:off x="1299972" y="5219700"/>
                  <a:ext cx="49682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链浏览</a:t>
                  </a:r>
                </a:p>
              </p:txBody>
            </p:sp>
            <p:sp>
              <p:nvSpPr>
                <p:cNvPr id="63" name="Rectangle 63"/>
                <p:cNvSpPr/>
                <p:nvPr/>
              </p:nvSpPr>
              <p:spPr>
                <a:xfrm>
                  <a:off x="1905000" y="5225415"/>
                  <a:ext cx="952500" cy="1524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2965704" y="521970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</p:grpSp>
          <p:grpSp>
            <p:nvGrpSpPr>
              <p:cNvPr id="69" name="bar-source"/>
              <p:cNvGrpSpPr/>
              <p:nvPr/>
            </p:nvGrpSpPr>
            <p:grpSpPr>
              <a:xfrm>
                <a:off x="1299972" y="5457825"/>
                <a:ext cx="1131456" cy="234696"/>
                <a:chOff x="1299972" y="5457825"/>
                <a:chExt cx="1131456" cy="234696"/>
              </a:xfrm>
            </p:grpSpPr>
            <p:sp>
              <p:nvSpPr>
                <p:cNvPr id="66" name="TextBox 66"/>
                <p:cNvSpPr txBox="1"/>
                <p:nvPr/>
              </p:nvSpPr>
              <p:spPr>
                <a:xfrm>
                  <a:off x="1299972" y="5457825"/>
                  <a:ext cx="49682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排放源</a:t>
                  </a:r>
                </a:p>
              </p:txBody>
            </p:sp>
            <p:sp>
              <p:nvSpPr>
                <p:cNvPr id="67" name="Rectangle 67"/>
                <p:cNvSpPr/>
                <p:nvPr/>
              </p:nvSpPr>
              <p:spPr>
                <a:xfrm>
                  <a:off x="1905000" y="5467350"/>
                  <a:ext cx="317182" cy="1524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2330387" y="5457825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</a:p>
              </p:txBody>
            </p:sp>
          </p:grpSp>
          <p:grpSp>
            <p:nvGrpSpPr>
              <p:cNvPr id="73" name="bar-file"/>
              <p:cNvGrpSpPr/>
              <p:nvPr/>
            </p:nvGrpSpPr>
            <p:grpSpPr>
              <a:xfrm>
                <a:off x="1461516" y="5695950"/>
                <a:ext cx="969912" cy="234696"/>
                <a:chOff x="1461516" y="5695950"/>
                <a:chExt cx="969912" cy="234696"/>
              </a:xfrm>
            </p:grpSpPr>
            <p:sp>
              <p:nvSpPr>
                <p:cNvPr id="70" name="TextBox 70"/>
                <p:cNvSpPr txBox="1"/>
                <p:nvPr/>
              </p:nvSpPr>
              <p:spPr>
                <a:xfrm>
                  <a:off x="1461516" y="5695950"/>
                  <a:ext cx="33528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文件</a:t>
                  </a:r>
                </a:p>
              </p:txBody>
            </p:sp>
            <p:sp>
              <p:nvSpPr>
                <p:cNvPr id="71" name="Rectangle 71"/>
                <p:cNvSpPr/>
                <p:nvPr/>
              </p:nvSpPr>
              <p:spPr>
                <a:xfrm>
                  <a:off x="1905000" y="5708332"/>
                  <a:ext cx="317182" cy="1524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2330387" y="569595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</a:p>
              </p:txBody>
            </p:sp>
          </p:grpSp>
          <p:sp>
            <p:nvSpPr>
              <p:cNvPr id="74" name="TextBox 74"/>
              <p:cNvSpPr txBox="1"/>
              <p:nvPr/>
            </p:nvSpPr>
            <p:spPr>
              <a:xfrm>
                <a:off x="1898904" y="598170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3442297" y="598170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4984737" y="598170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6572555" y="598170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15</a:t>
                </a:r>
              </a:p>
            </p:txBody>
          </p:sp>
        </p:grpSp>
      </p:grpSp>
      <p:grpSp>
        <p:nvGrpSpPr>
          <p:cNvPr id="93" name="permissions"/>
          <p:cNvGrpSpPr/>
          <p:nvPr/>
        </p:nvGrpSpPr>
        <p:grpSpPr>
          <a:xfrm>
            <a:off x="7610856" y="1771650"/>
            <a:ext cx="3895344" cy="3701796"/>
            <a:chOff x="7610856" y="1771650"/>
            <a:chExt cx="3895344" cy="3701796"/>
          </a:xfrm>
        </p:grpSpPr>
        <p:sp>
          <p:nvSpPr>
            <p:cNvPr id="80" name="Line 80"/>
            <p:cNvSpPr/>
            <p:nvPr/>
          </p:nvSpPr>
          <p:spPr>
            <a:xfrm>
              <a:off x="7620000" y="1771650"/>
              <a:ext cx="3886200" cy="9525"/>
            </a:xfrm>
            <a:custGeom>
              <a:avLst/>
              <a:gdLst/>
              <a:ahLst/>
              <a:cxnLst/>
              <a:rect l="l" t="t" r="r" b="b"/>
              <a:pathLst>
                <a:path w="3886200" h="9525">
                  <a:moveTo>
                    <a:pt x="0" y="0"/>
                  </a:moveTo>
                  <a:lnTo>
                    <a:pt x="3886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610856" y="19558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权限边界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613142" y="24638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审核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375142" y="2463800"/>
              <a:ext cx="16039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 auditor / admin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613142" y="28067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撤销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375142" y="2806700"/>
              <a:ext cx="18038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 regulator / admin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613142" y="314960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企业写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375142" y="3149600"/>
              <a:ext cx="1903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 enterprise / admin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613142" y="34925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隔离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375142" y="3492500"/>
              <a:ext cx="21355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UserScopes · 跨企业 403</a:t>
              </a:r>
            </a:p>
          </p:txBody>
        </p:sp>
        <p:sp>
          <p:nvSpPr>
            <p:cNvPr id="90" name="Line 90"/>
            <p:cNvSpPr/>
            <p:nvPr/>
          </p:nvSpPr>
          <p:spPr>
            <a:xfrm>
              <a:off x="7620000" y="3905250"/>
              <a:ext cx="3886200" cy="9525"/>
            </a:xfrm>
            <a:custGeom>
              <a:avLst/>
              <a:gdLst/>
              <a:ahLst/>
              <a:cxnLst/>
              <a:rect l="l" t="t" r="r" b="b"/>
              <a:pathLst>
                <a:path w="3886200" h="9525">
                  <a:moveTo>
                    <a:pt x="0" y="0"/>
                  </a:moveTo>
                  <a:lnTo>
                    <a:pt x="3886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613142" y="40830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鉴权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613904" y="4324350"/>
              <a:ext cx="2648712" cy="1149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JWT 24 小时 · 拦截器校验签名</a:t>
              </a:r>
              <a:b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列表强制注入本企业 enterpriseId</a:t>
              </a:r>
              <a:b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单条读写校验归属，跨企业返回 403</a:t>
              </a:r>
              <a:b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公共白名单：防伪码查询 / 核验 / 公示</a:t>
              </a:r>
            </a:p>
          </p:txBody>
        </p:sp>
      </p:grpSp>
      <p:grpSp>
        <p:nvGrpSpPr>
          <p:cNvPr id="97" name="footer"/>
          <p:cNvGrpSpPr/>
          <p:nvPr/>
        </p:nvGrpSpPr>
        <p:grpSpPr>
          <a:xfrm>
            <a:off x="679704" y="6419850"/>
            <a:ext cx="10832592" cy="329946"/>
            <a:chOff x="679704" y="6419850"/>
            <a:chExt cx="10832592" cy="329946"/>
          </a:xfrm>
        </p:grpSpPr>
        <p:sp>
          <p:nvSpPr>
            <p:cNvPr id="94" name="Line 94"/>
            <p:cNvSpPr/>
            <p:nvPr/>
          </p:nvSpPr>
          <p:spPr>
            <a:xfrm>
              <a:off x="685800" y="6419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79704" y="6515100"/>
              <a:ext cx="5181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权限不是前端隐藏按钮，而是拦截器、角色校验与归属校验三层共同保证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322406" y="65151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69798" y="558800"/>
            <a:ext cx="5120640" cy="933577"/>
            <a:chOff x="669798" y="558800"/>
            <a:chExt cx="5120640" cy="93357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58800"/>
              <a:ext cx="1330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09 / 安全加固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6300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先把攻击面关掉，</a:t>
              </a:r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再谈信任</a:t>
              </a:r>
            </a:p>
          </p:txBody>
        </p:sp>
      </p:grpSp>
      <p:grpSp>
        <p:nvGrpSpPr>
          <p:cNvPr id="48" name="security-matrix"/>
          <p:cNvGrpSpPr/>
          <p:nvPr/>
        </p:nvGrpSpPr>
        <p:grpSpPr>
          <a:xfrm>
            <a:off x="685800" y="1695450"/>
            <a:ext cx="10820400" cy="3956558"/>
            <a:chOff x="685800" y="1695450"/>
            <a:chExt cx="10820400" cy="3956558"/>
          </a:xfrm>
        </p:grpSpPr>
        <p:sp>
          <p:nvSpPr>
            <p:cNvPr id="5" name="Rectangle 5"/>
            <p:cNvSpPr/>
            <p:nvPr/>
          </p:nvSpPr>
          <p:spPr>
            <a:xfrm>
              <a:off x="685800" y="1695450"/>
              <a:ext cx="10820400" cy="419100"/>
            </a:xfrm>
            <a:prstGeom prst="rect">
              <a:avLst/>
            </a:prstGeom>
            <a:solidFill>
              <a:srgbClr val="E6F0E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1342" y="18161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079242" y="18161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对策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22892" y="18161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实现位置</a:t>
              </a:r>
            </a:p>
          </p:txBody>
        </p:sp>
        <p:grpSp>
          <p:nvGrpSpPr>
            <p:cNvPr id="13" name="sec-row-1"/>
            <p:cNvGrpSpPr/>
            <p:nvPr/>
          </p:nvGrpSpPr>
          <p:grpSpPr>
            <a:xfrm>
              <a:off x="685800" y="2254250"/>
              <a:ext cx="10820400" cy="288925"/>
              <a:chOff x="685800" y="2254250"/>
              <a:chExt cx="10820400" cy="288925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31342" y="22542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越权提权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079242" y="2254250"/>
                <a:ext cx="48660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用户更新走字段白名单，role / status 仅监管与管理员可改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422892" y="2254250"/>
                <a:ext cx="13328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UserController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685800" y="25336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18" name="sec-row-2"/>
            <p:cNvGrpSpPr/>
            <p:nvPr/>
          </p:nvGrpSpPr>
          <p:grpSpPr>
            <a:xfrm>
              <a:off x="685800" y="2701925"/>
              <a:ext cx="10820400" cy="288925"/>
              <a:chOff x="685800" y="2701925"/>
              <a:chExt cx="10820400" cy="288925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831342" y="2701925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横向越权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079242" y="2701925"/>
                <a:ext cx="41845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企业列表强制过滤、单条校验归属，跨企业返回 403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422892" y="2701925"/>
                <a:ext cx="10245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UserScopes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685800" y="2981325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23" name="sec-row-3"/>
            <p:cNvGrpSpPr/>
            <p:nvPr/>
          </p:nvGrpSpPr>
          <p:grpSpPr>
            <a:xfrm>
              <a:off x="685800" y="3149600"/>
              <a:ext cx="10820400" cy="288925"/>
              <a:chOff x="685800" y="3149600"/>
              <a:chExt cx="10820400" cy="288925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831342" y="314960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密码泄露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079242" y="3149600"/>
                <a:ext cx="47124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BCrypt 哈希、password 字段 WRITE_ONLY、仅监管可查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422892" y="3149600"/>
                <a:ext cx="146104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PasswordHasher</a:t>
                </a:r>
              </a:p>
            </p:txBody>
          </p:sp>
          <p:sp>
            <p:nvSpPr>
              <p:cNvPr id="22" name="Line 22"/>
              <p:cNvSpPr/>
              <p:nvPr/>
            </p:nvSpPr>
            <p:spPr>
              <a:xfrm>
                <a:off x="685800" y="34290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28" name="sec-row-4"/>
            <p:cNvGrpSpPr/>
            <p:nvPr/>
          </p:nvGrpSpPr>
          <p:grpSpPr>
            <a:xfrm>
              <a:off x="685800" y="3597275"/>
              <a:ext cx="10820400" cy="288925"/>
              <a:chOff x="685800" y="3597275"/>
              <a:chExt cx="10820400" cy="288925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831342" y="3597275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暴力破解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079242" y="3597275"/>
                <a:ext cx="29669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连续 5 次失败锁定 5 分钟，返回 429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422892" y="3597275"/>
                <a:ext cx="142893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AuthServiceImpl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685800" y="3876675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33" name="sec-row-5"/>
            <p:cNvGrpSpPr/>
            <p:nvPr/>
          </p:nvGrpSpPr>
          <p:grpSpPr>
            <a:xfrm>
              <a:off x="685800" y="4044950"/>
              <a:ext cx="10820400" cy="288925"/>
              <a:chOff x="685800" y="4044950"/>
              <a:chExt cx="10820400" cy="288925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831342" y="4044950"/>
                <a:ext cx="81068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JWT 伪造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079242" y="4044950"/>
                <a:ext cx="3397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CARBON_JWT_SECRET 覆盖仓库默认密钥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422892" y="4044950"/>
                <a:ext cx="6693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JwtUtil</a:t>
                </a:r>
              </a:p>
            </p:txBody>
          </p:sp>
          <p:sp>
            <p:nvSpPr>
              <p:cNvPr id="32" name="Line 32"/>
              <p:cNvSpPr/>
              <p:nvPr/>
            </p:nvSpPr>
            <p:spPr>
              <a:xfrm>
                <a:off x="685800" y="43243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38" name="sec-row-6"/>
            <p:cNvGrpSpPr/>
            <p:nvPr/>
          </p:nvGrpSpPr>
          <p:grpSpPr>
            <a:xfrm>
              <a:off x="685800" y="4492625"/>
              <a:ext cx="10820400" cy="288925"/>
              <a:chOff x="685800" y="4492625"/>
              <a:chExt cx="10820400" cy="288925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831342" y="4492625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链接口暴露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079242" y="4492625"/>
                <a:ext cx="49963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WeBASE 5001/5002/5004、MySQL、Redis 绑定 127.0.0.1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422892" y="4492625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部署配置</a:t>
                </a:r>
              </a:p>
            </p:txBody>
          </p:sp>
          <p:sp>
            <p:nvSpPr>
              <p:cNvPr id="37" name="Line 37"/>
              <p:cNvSpPr/>
              <p:nvPr/>
            </p:nvSpPr>
            <p:spPr>
              <a:xfrm>
                <a:off x="685800" y="4772025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43" name="sec-row-7"/>
            <p:cNvGrpSpPr/>
            <p:nvPr/>
          </p:nvGrpSpPr>
          <p:grpSpPr>
            <a:xfrm>
              <a:off x="685800" y="4940300"/>
              <a:ext cx="10820400" cy="288925"/>
              <a:chOff x="685800" y="4940300"/>
              <a:chExt cx="10820400" cy="288925"/>
            </a:xfrm>
          </p:grpSpPr>
          <p:sp>
            <p:nvSpPr>
              <p:cNvPr id="39" name="TextBox 39"/>
              <p:cNvSpPr txBox="1"/>
              <p:nvPr/>
            </p:nvSpPr>
            <p:spPr>
              <a:xfrm>
                <a:off x="831342" y="4940300"/>
                <a:ext cx="81068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SQL 注入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079242" y="4940300"/>
                <a:ext cx="30984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MyBatis-Plus 参数绑定，不拼接 SQL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422892" y="4940300"/>
                <a:ext cx="8925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Mapper 层</a:t>
                </a:r>
              </a:p>
            </p:txBody>
          </p:sp>
          <p:sp>
            <p:nvSpPr>
              <p:cNvPr id="42" name="Line 42"/>
              <p:cNvSpPr/>
              <p:nvPr/>
            </p:nvSpPr>
            <p:spPr>
              <a:xfrm>
                <a:off x="685800" y="52197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47" name="sec-row-8"/>
            <p:cNvGrpSpPr/>
            <p:nvPr/>
          </p:nvGrpSpPr>
          <p:grpSpPr>
            <a:xfrm>
              <a:off x="831342" y="5387975"/>
              <a:ext cx="9332214" cy="264033"/>
              <a:chOff x="831342" y="5387975"/>
              <a:chExt cx="9332214" cy="264033"/>
            </a:xfrm>
          </p:grpSpPr>
          <p:sp>
            <p:nvSpPr>
              <p:cNvPr id="44" name="TextBox 44"/>
              <p:cNvSpPr txBox="1"/>
              <p:nvPr/>
            </p:nvSpPr>
            <p:spPr>
              <a:xfrm>
                <a:off x="831342" y="5387975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链上伪造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3079242" y="5387975"/>
                <a:ext cx="41632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核验以链上状态为准；合约写入受 onlyWriter 限制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422892" y="5387975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两个合约</a:t>
                </a:r>
              </a:p>
            </p:txBody>
          </p:sp>
        </p:grpSp>
      </p:grpSp>
      <p:grpSp>
        <p:nvGrpSpPr>
          <p:cNvPr id="52" name="security-result"/>
          <p:cNvGrpSpPr/>
          <p:nvPr/>
        </p:nvGrpSpPr>
        <p:grpSpPr>
          <a:xfrm>
            <a:off x="685800" y="5753100"/>
            <a:ext cx="10820400" cy="419100"/>
            <a:chOff x="685800" y="5753100"/>
            <a:chExt cx="10820400" cy="419100"/>
          </a:xfrm>
        </p:grpSpPr>
        <p:sp>
          <p:nvSpPr>
            <p:cNvPr id="49" name="Rectangle 49"/>
            <p:cNvSpPr/>
            <p:nvPr/>
          </p:nvSpPr>
          <p:spPr>
            <a:xfrm>
              <a:off x="685800" y="5753100"/>
              <a:ext cx="108204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07542" y="5864225"/>
              <a:ext cx="19165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49 项安全回归全部通过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98737" y="5876925"/>
              <a:ext cx="2184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越权 · 伪造 · 密码 · 端口暴露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679704" y="6515100"/>
            <a:ext cx="10832592" cy="234696"/>
            <a:chOff x="679704" y="6515100"/>
            <a:chExt cx="10832592" cy="234696"/>
          </a:xfrm>
        </p:grpSpPr>
        <p:sp>
          <p:nvSpPr>
            <p:cNvPr id="53" name="TextBox 53"/>
            <p:cNvSpPr txBox="1"/>
            <p:nvPr/>
          </p:nvSpPr>
          <p:spPr>
            <a:xfrm>
              <a:off x="679704" y="6515100"/>
              <a:ext cx="48100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修完再测：攻击测试发现问题后逐项修复，再跑 49 项回归确认闭环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322406" y="65151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6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69798" y="558800"/>
            <a:ext cx="7615132" cy="933577"/>
            <a:chOff x="669798" y="558800"/>
            <a:chExt cx="7615132" cy="93357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58800"/>
              <a:ext cx="1330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 / 部署运维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6300"/>
              <a:ext cx="761513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九个 systemd 服务，</a:t>
              </a:r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一条命令拉起全栈</a:t>
              </a:r>
            </a:p>
          </p:txBody>
        </p:sp>
      </p:grpSp>
      <p:grpSp>
        <p:nvGrpSpPr>
          <p:cNvPr id="63" name="service-table"/>
          <p:cNvGrpSpPr/>
          <p:nvPr/>
        </p:nvGrpSpPr>
        <p:grpSpPr>
          <a:xfrm>
            <a:off x="685800" y="1752600"/>
            <a:ext cx="7239000" cy="4280408"/>
            <a:chOff x="685800" y="1752600"/>
            <a:chExt cx="7239000" cy="4280408"/>
          </a:xfrm>
        </p:grpSpPr>
        <p:sp>
          <p:nvSpPr>
            <p:cNvPr id="5" name="Rectangle 5"/>
            <p:cNvSpPr/>
            <p:nvPr/>
          </p:nvSpPr>
          <p:spPr>
            <a:xfrm>
              <a:off x="685800" y="1752600"/>
              <a:ext cx="7239000" cy="381000"/>
            </a:xfrm>
            <a:prstGeom prst="rect">
              <a:avLst/>
            </a:prstGeom>
            <a:solidFill>
              <a:srgbClr val="E6F0E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1342" y="184467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服务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345942" y="184467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端口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679442" y="184467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绑定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203442" y="184467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grpSp>
          <p:nvGrpSpPr>
            <p:cNvPr id="15" name="svc-nginx"/>
            <p:cNvGrpSpPr/>
            <p:nvPr/>
          </p:nvGrpSpPr>
          <p:grpSpPr>
            <a:xfrm>
              <a:off x="685800" y="2263775"/>
              <a:ext cx="7239000" cy="288925"/>
              <a:chOff x="685800" y="2263775"/>
              <a:chExt cx="7239000" cy="288925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831342" y="2263775"/>
                <a:ext cx="49077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nginx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345942" y="2263775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80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679442" y="2263775"/>
                <a:ext cx="713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0.0.0.0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203442" y="2263775"/>
                <a:ext cx="9496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静态 + 反代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685800" y="2543175"/>
                <a:ext cx="723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9525">
                    <a:moveTo>
                      <a:pt x="0" y="0"/>
                    </a:moveTo>
                    <a:lnTo>
                      <a:pt x="7239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21" name="svc-app"/>
            <p:cNvGrpSpPr/>
            <p:nvPr/>
          </p:nvGrpSpPr>
          <p:grpSpPr>
            <a:xfrm>
              <a:off x="685800" y="2701925"/>
              <a:ext cx="7239000" cy="288925"/>
              <a:chOff x="685800" y="2701925"/>
              <a:chExt cx="7239000" cy="288925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831342" y="2701925"/>
                <a:ext cx="12731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carbon-trace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345942" y="2701925"/>
                <a:ext cx="41353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8080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79442" y="2701925"/>
                <a:ext cx="713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0.0.0.0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203442" y="2701925"/>
                <a:ext cx="10337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Spring Boot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685800" y="2981325"/>
                <a:ext cx="723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9525">
                    <a:moveTo>
                      <a:pt x="0" y="0"/>
                    </a:moveTo>
                    <a:lnTo>
                      <a:pt x="7239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27" name="svc-mysql"/>
            <p:cNvGrpSpPr/>
            <p:nvPr/>
          </p:nvGrpSpPr>
          <p:grpSpPr>
            <a:xfrm>
              <a:off x="685800" y="3140075"/>
              <a:ext cx="7239000" cy="288925"/>
              <a:chOff x="685800" y="3140075"/>
              <a:chExt cx="7239000" cy="288925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831342" y="3140075"/>
                <a:ext cx="5289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mysql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345942" y="3140075"/>
                <a:ext cx="41353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3306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679442" y="3140075"/>
                <a:ext cx="9133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127.0.0.1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203442" y="3140075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业务库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685800" y="3419475"/>
                <a:ext cx="723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9525">
                    <a:moveTo>
                      <a:pt x="0" y="0"/>
                    </a:moveTo>
                    <a:lnTo>
                      <a:pt x="7239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33" name="svc-front"/>
            <p:cNvGrpSpPr/>
            <p:nvPr/>
          </p:nvGrpSpPr>
          <p:grpSpPr>
            <a:xfrm>
              <a:off x="685800" y="3578225"/>
              <a:ext cx="7239000" cy="288925"/>
              <a:chOff x="685800" y="3578225"/>
              <a:chExt cx="7239000" cy="288925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831342" y="3578225"/>
                <a:ext cx="13113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webase-front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345942" y="3578225"/>
                <a:ext cx="41353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5002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679442" y="3578225"/>
                <a:ext cx="9133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127.0.0.1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203442" y="3578225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合约调用</a:t>
                </a:r>
              </a:p>
            </p:txBody>
          </p:sp>
          <p:sp>
            <p:nvSpPr>
              <p:cNvPr id="32" name="Line 32"/>
              <p:cNvSpPr/>
              <p:nvPr/>
            </p:nvSpPr>
            <p:spPr>
              <a:xfrm>
                <a:off x="685800" y="3857625"/>
                <a:ext cx="723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9525">
                    <a:moveTo>
                      <a:pt x="0" y="0"/>
                    </a:moveTo>
                    <a:lnTo>
                      <a:pt x="7239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39" name="svc-sign"/>
            <p:cNvGrpSpPr/>
            <p:nvPr/>
          </p:nvGrpSpPr>
          <p:grpSpPr>
            <a:xfrm>
              <a:off x="685800" y="4016375"/>
              <a:ext cx="7239000" cy="288925"/>
              <a:chOff x="685800" y="4016375"/>
              <a:chExt cx="7239000" cy="288925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831342" y="4016375"/>
                <a:ext cx="11586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webase-sign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345942" y="4016375"/>
                <a:ext cx="41353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5004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679442" y="4016375"/>
                <a:ext cx="9133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127.0.0.1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203442" y="4016375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签名托管</a:t>
                </a:r>
              </a:p>
            </p:txBody>
          </p:sp>
          <p:sp>
            <p:nvSpPr>
              <p:cNvPr id="38" name="Line 38"/>
              <p:cNvSpPr/>
              <p:nvPr/>
            </p:nvSpPr>
            <p:spPr>
              <a:xfrm>
                <a:off x="685800" y="4295775"/>
                <a:ext cx="723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9525">
                    <a:moveTo>
                      <a:pt x="0" y="0"/>
                    </a:moveTo>
                    <a:lnTo>
                      <a:pt x="7239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45" name="svc-nodemgr"/>
            <p:cNvGrpSpPr/>
            <p:nvPr/>
          </p:nvGrpSpPr>
          <p:grpSpPr>
            <a:xfrm>
              <a:off x="685800" y="4454525"/>
              <a:ext cx="7239000" cy="288925"/>
              <a:chOff x="685800" y="4454525"/>
              <a:chExt cx="7239000" cy="288925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831342" y="4454525"/>
                <a:ext cx="16643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webase-node-mgr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345942" y="4454525"/>
                <a:ext cx="41353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5001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679442" y="4454525"/>
                <a:ext cx="9133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127.0.0.1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203442" y="4454525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节点管理</a:t>
                </a:r>
              </a:p>
            </p:txBody>
          </p:sp>
          <p:sp>
            <p:nvSpPr>
              <p:cNvPr id="44" name="Line 44"/>
              <p:cNvSpPr/>
              <p:nvPr/>
            </p:nvSpPr>
            <p:spPr>
              <a:xfrm>
                <a:off x="685800" y="4733925"/>
                <a:ext cx="723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9525">
                    <a:moveTo>
                      <a:pt x="0" y="0"/>
                    </a:moveTo>
                    <a:lnTo>
                      <a:pt x="7239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51" name="svc-web"/>
            <p:cNvGrpSpPr/>
            <p:nvPr/>
          </p:nvGrpSpPr>
          <p:grpSpPr>
            <a:xfrm>
              <a:off x="685800" y="4892675"/>
              <a:ext cx="7239000" cy="288925"/>
              <a:chOff x="685800" y="4892675"/>
              <a:chExt cx="7239000" cy="288925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831342" y="4892675"/>
                <a:ext cx="113957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webase-web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3345942" y="4892675"/>
                <a:ext cx="41353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5000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679442" y="4892675"/>
                <a:ext cx="9133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127.0.0.1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203442" y="4892675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管理台</a:t>
                </a:r>
              </a:p>
            </p:txBody>
          </p:sp>
          <p:sp>
            <p:nvSpPr>
              <p:cNvPr id="50" name="Line 50"/>
              <p:cNvSpPr/>
              <p:nvPr/>
            </p:nvSpPr>
            <p:spPr>
              <a:xfrm>
                <a:off x="685800" y="5172075"/>
                <a:ext cx="723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9525">
                    <a:moveTo>
                      <a:pt x="0" y="0"/>
                    </a:moveTo>
                    <a:lnTo>
                      <a:pt x="7239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57" name="svc-node"/>
            <p:cNvGrpSpPr/>
            <p:nvPr/>
          </p:nvGrpSpPr>
          <p:grpSpPr>
            <a:xfrm>
              <a:off x="685800" y="5330825"/>
              <a:ext cx="7239000" cy="288925"/>
              <a:chOff x="685800" y="5330825"/>
              <a:chExt cx="7239000" cy="288925"/>
            </a:xfrm>
          </p:grpSpPr>
          <p:sp>
            <p:nvSpPr>
              <p:cNvPr id="52" name="TextBox 52"/>
              <p:cNvSpPr txBox="1"/>
              <p:nvPr/>
            </p:nvSpPr>
            <p:spPr>
              <a:xfrm>
                <a:off x="831342" y="5330825"/>
                <a:ext cx="12063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webase-node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3345942" y="5330825"/>
                <a:ext cx="111322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20200/20201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4679442" y="5330825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本机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203442" y="5330825"/>
                <a:ext cx="9532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FISCO 节点</a:t>
                </a:r>
              </a:p>
            </p:txBody>
          </p:sp>
          <p:sp>
            <p:nvSpPr>
              <p:cNvPr id="56" name="Line 56"/>
              <p:cNvSpPr/>
              <p:nvPr/>
            </p:nvSpPr>
            <p:spPr>
              <a:xfrm>
                <a:off x="685800" y="5610225"/>
                <a:ext cx="723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9525">
                    <a:moveTo>
                      <a:pt x="0" y="0"/>
                    </a:moveTo>
                    <a:lnTo>
                      <a:pt x="7239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62" name="svc-redis"/>
            <p:cNvGrpSpPr/>
            <p:nvPr/>
          </p:nvGrpSpPr>
          <p:grpSpPr>
            <a:xfrm>
              <a:off x="831342" y="5768975"/>
              <a:ext cx="6112764" cy="264033"/>
              <a:chOff x="831342" y="5768975"/>
              <a:chExt cx="6112764" cy="264033"/>
            </a:xfrm>
          </p:grpSpPr>
          <p:sp>
            <p:nvSpPr>
              <p:cNvPr id="58" name="TextBox 58"/>
              <p:cNvSpPr txBox="1"/>
              <p:nvPr/>
            </p:nvSpPr>
            <p:spPr>
              <a:xfrm>
                <a:off x="831342" y="5768975"/>
                <a:ext cx="122544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redis-server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3345942" y="5768975"/>
                <a:ext cx="41353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6379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4679442" y="5768975"/>
                <a:ext cx="9133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127.0.0.1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203442" y="5768975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环境组件</a:t>
                </a:r>
              </a:p>
            </p:txBody>
          </p:sp>
        </p:grpSp>
      </p:grpSp>
      <p:grpSp>
        <p:nvGrpSpPr>
          <p:cNvPr id="78" name="deploy-chain"/>
          <p:cNvGrpSpPr/>
          <p:nvPr/>
        </p:nvGrpSpPr>
        <p:grpSpPr>
          <a:xfrm>
            <a:off x="7991856" y="1771650"/>
            <a:ext cx="3514344" cy="4025646"/>
            <a:chOff x="7991856" y="1771650"/>
            <a:chExt cx="3514344" cy="4025646"/>
          </a:xfrm>
        </p:grpSpPr>
        <p:sp>
          <p:nvSpPr>
            <p:cNvPr id="64" name="Line 64"/>
            <p:cNvSpPr/>
            <p:nvPr/>
          </p:nvSpPr>
          <p:spPr>
            <a:xfrm>
              <a:off x="8001000" y="177165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991856" y="19367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启动链路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420100" y="2286000"/>
              <a:ext cx="2286000" cy="5334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083721" y="2438400"/>
              <a:ext cx="9587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nginx :80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9563100" y="2857500"/>
              <a:ext cx="1" cy="2476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69" name="Rectangle 69"/>
            <p:cNvSpPr/>
            <p:nvPr/>
          </p:nvSpPr>
          <p:spPr>
            <a:xfrm>
              <a:off x="8420100" y="3143250"/>
              <a:ext cx="2286000" cy="5334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532452" y="3295650"/>
              <a:ext cx="2061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carbon-trace :8080</a:t>
              </a:r>
            </a:p>
          </p:txBody>
        </p:sp>
        <p:sp>
          <p:nvSpPr>
            <p:cNvPr id="71" name="Line 71"/>
            <p:cNvSpPr/>
            <p:nvPr/>
          </p:nvSpPr>
          <p:spPr>
            <a:xfrm>
              <a:off x="9563100" y="3714750"/>
              <a:ext cx="1" cy="2476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72" name="Rectangle 72"/>
            <p:cNvSpPr/>
            <p:nvPr/>
          </p:nvSpPr>
          <p:spPr>
            <a:xfrm>
              <a:off x="8420100" y="4000500"/>
              <a:ext cx="2286000" cy="5334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479009" y="4152900"/>
              <a:ext cx="21681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WeBASE-Front :5002</a:t>
              </a:r>
            </a:p>
          </p:txBody>
        </p:sp>
        <p:sp>
          <p:nvSpPr>
            <p:cNvPr id="74" name="Line 74"/>
            <p:cNvSpPr/>
            <p:nvPr/>
          </p:nvSpPr>
          <p:spPr>
            <a:xfrm>
              <a:off x="9563100" y="4572000"/>
              <a:ext cx="1" cy="24765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5" name="Rectangle 75"/>
            <p:cNvSpPr/>
            <p:nvPr/>
          </p:nvSpPr>
          <p:spPr>
            <a:xfrm>
              <a:off x="8420100" y="4857750"/>
              <a:ext cx="2286000" cy="5334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510180" y="5010150"/>
              <a:ext cx="2105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FISCO node0 / node1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994904" y="556260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双击「启动系统.bat」拉起全栈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679704" y="6419850"/>
            <a:ext cx="10832592" cy="329946"/>
            <a:chOff x="679704" y="6419850"/>
            <a:chExt cx="10832592" cy="329946"/>
          </a:xfrm>
        </p:grpSpPr>
        <p:sp>
          <p:nvSpPr>
            <p:cNvPr id="79" name="Line 79"/>
            <p:cNvSpPr/>
            <p:nvPr/>
          </p:nvSpPr>
          <p:spPr>
            <a:xfrm>
              <a:off x="685800" y="6419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79704" y="6515100"/>
              <a:ext cx="73932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生产配置 /opt/carbon-trace/application-ubuntu.yml 不入库；JWT 密钥走 CARBON_JWT_SECRET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322406" y="65151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6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69798" y="558800"/>
            <a:ext cx="8376307" cy="933577"/>
            <a:chOff x="669798" y="558800"/>
            <a:chExt cx="8376307" cy="93357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58800"/>
              <a:ext cx="1532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11 / 质量与性能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6300"/>
              <a:ext cx="837630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62 项回归 + 两轮压测：</a:t>
              </a:r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瓶颈在链，不在应用</a:t>
              </a:r>
            </a:p>
          </p:txBody>
        </p:sp>
      </p:grpSp>
      <p:grpSp>
        <p:nvGrpSpPr>
          <p:cNvPr id="29" name="test-matrix"/>
          <p:cNvGrpSpPr/>
          <p:nvPr/>
        </p:nvGrpSpPr>
        <p:grpSpPr>
          <a:xfrm>
            <a:off x="676656" y="1771650"/>
            <a:ext cx="4207002" cy="3813683"/>
            <a:chOff x="676656" y="1771650"/>
            <a:chExt cx="4207002" cy="3813683"/>
          </a:xfrm>
        </p:grpSpPr>
        <p:sp>
          <p:nvSpPr>
            <p:cNvPr id="5" name="Line 5"/>
            <p:cNvSpPr/>
            <p:nvPr/>
          </p:nvSpPr>
          <p:spPr>
            <a:xfrm>
              <a:off x="685800" y="17716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76656" y="19558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测试矩阵</a:t>
              </a:r>
            </a:p>
          </p:txBody>
        </p:sp>
        <p:grpSp>
          <p:nvGrpSpPr>
            <p:cNvPr id="11" name="test-api"/>
            <p:cNvGrpSpPr/>
            <p:nvPr/>
          </p:nvGrpSpPr>
          <p:grpSpPr>
            <a:xfrm>
              <a:off x="678180" y="2546350"/>
              <a:ext cx="4205478" cy="339725"/>
              <a:chOff x="678180" y="2546350"/>
              <a:chExt cx="4205478" cy="339725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678180" y="2546350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接口回归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2278380" y="2546350"/>
                <a:ext cx="90373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62 项断言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142994" y="25590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全部通过</a:t>
                </a:r>
              </a:p>
            </p:txBody>
          </p:sp>
          <p:sp>
            <p:nvSpPr>
              <p:cNvPr id="10" name="Line 10"/>
              <p:cNvSpPr/>
              <p:nvPr/>
            </p:nvSpPr>
            <p:spPr>
              <a:xfrm>
                <a:off x="685800" y="2876550"/>
                <a:ext cx="419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9525">
                    <a:moveTo>
                      <a:pt x="0" y="0"/>
                    </a:moveTo>
                    <a:lnTo>
                      <a:pt x="4191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16" name="test-function"/>
            <p:cNvGrpSpPr/>
            <p:nvPr/>
          </p:nvGrpSpPr>
          <p:grpSpPr>
            <a:xfrm>
              <a:off x="678180" y="3175000"/>
              <a:ext cx="4205478" cy="339725"/>
              <a:chOff x="678180" y="3175000"/>
              <a:chExt cx="4205478" cy="339725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678180" y="3175000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功能回归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278380" y="3175000"/>
                <a:ext cx="4998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43 项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142994" y="318770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全部通过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685800" y="3505200"/>
                <a:ext cx="419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9525">
                    <a:moveTo>
                      <a:pt x="0" y="0"/>
                    </a:moveTo>
                    <a:lnTo>
                      <a:pt x="4191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21" name="test-security"/>
            <p:cNvGrpSpPr/>
            <p:nvPr/>
          </p:nvGrpSpPr>
          <p:grpSpPr>
            <a:xfrm>
              <a:off x="678180" y="3803650"/>
              <a:ext cx="4205478" cy="339725"/>
              <a:chOff x="678180" y="3803650"/>
              <a:chExt cx="4205478" cy="339725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78180" y="3803650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安全回归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278380" y="3803650"/>
                <a:ext cx="4998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49 项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142994" y="381635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全部通过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685800" y="4133850"/>
                <a:ext cx="419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9525">
                    <a:moveTo>
                      <a:pt x="0" y="0"/>
                    </a:moveTo>
                    <a:lnTo>
                      <a:pt x="4191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26" name="test-load"/>
            <p:cNvGrpSpPr/>
            <p:nvPr/>
          </p:nvGrpSpPr>
          <p:grpSpPr>
            <a:xfrm>
              <a:off x="678180" y="4432300"/>
              <a:ext cx="4205478" cy="339725"/>
              <a:chOff x="678180" y="4432300"/>
              <a:chExt cx="4205478" cy="339725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678180" y="4432300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并发压测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278380" y="4432300"/>
                <a:ext cx="3888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 轮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506468" y="4445000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完成</a:t>
                </a: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685800" y="4762500"/>
                <a:ext cx="419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9525">
                    <a:moveTo>
                      <a:pt x="0" y="0"/>
                    </a:moveTo>
                    <a:lnTo>
                      <a:pt x="4191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78942" y="505460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压测暴露的编号并发问题已修复：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8942" y="5321300"/>
              <a:ext cx="2697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告警 ALT015、排放 CR000063。</a:t>
              </a:r>
            </a:p>
          </p:txBody>
        </p:sp>
      </p:grpSp>
      <p:grpSp>
        <p:nvGrpSpPr>
          <p:cNvPr id="76" name="perf-table"/>
          <p:cNvGrpSpPr/>
          <p:nvPr/>
        </p:nvGrpSpPr>
        <p:grpSpPr>
          <a:xfrm>
            <a:off x="4953000" y="1695450"/>
            <a:ext cx="6553200" cy="3758946"/>
            <a:chOff x="4953000" y="1695450"/>
            <a:chExt cx="6553200" cy="3758946"/>
          </a:xfrm>
        </p:grpSpPr>
        <p:sp>
          <p:nvSpPr>
            <p:cNvPr id="30" name="Rectangle 30"/>
            <p:cNvSpPr/>
            <p:nvPr/>
          </p:nvSpPr>
          <p:spPr>
            <a:xfrm>
              <a:off x="4953000" y="1695450"/>
              <a:ext cx="6553200" cy="381000"/>
            </a:xfrm>
            <a:prstGeom prst="rect">
              <a:avLst/>
            </a:prstGeom>
            <a:solidFill>
              <a:srgbClr val="E6F0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099304" y="180022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场景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28560" y="180022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并发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42554" y="1800225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吞吐 / 时延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585704" y="180022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grpSp>
          <p:nvGrpSpPr>
            <p:cNvPr id="40" name="perf-row-1"/>
            <p:cNvGrpSpPr/>
            <p:nvPr/>
          </p:nvGrpSpPr>
          <p:grpSpPr>
            <a:xfrm>
              <a:off x="4953000" y="2247900"/>
              <a:ext cx="6553200" cy="295275"/>
              <a:chOff x="4953000" y="2247900"/>
              <a:chExt cx="6553200" cy="295275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5099304" y="224790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公共企业列表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601255" y="224790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242554" y="2247900"/>
                <a:ext cx="161521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1380 RPS · p99 26ms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0585704" y="2247900"/>
                <a:ext cx="3998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100%</a:t>
                </a:r>
              </a:p>
            </p:txBody>
          </p:sp>
          <p:sp>
            <p:nvSpPr>
              <p:cNvPr id="39" name="Line 39"/>
              <p:cNvSpPr/>
              <p:nvPr/>
            </p:nvSpPr>
            <p:spPr>
              <a:xfrm>
                <a:off x="4953000" y="2533650"/>
                <a:ext cx="6553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553200" h="9525">
                    <a:moveTo>
                      <a:pt x="0" y="0"/>
                    </a:moveTo>
                    <a:lnTo>
                      <a:pt x="65532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46" name="perf-row-2"/>
            <p:cNvGrpSpPr/>
            <p:nvPr/>
          </p:nvGrpSpPr>
          <p:grpSpPr>
            <a:xfrm>
              <a:off x="4953000" y="2743200"/>
              <a:ext cx="6553200" cy="295275"/>
              <a:chOff x="4953000" y="2743200"/>
              <a:chExt cx="6553200" cy="295275"/>
            </a:xfrm>
          </p:grpSpPr>
          <p:sp>
            <p:nvSpPr>
              <p:cNvPr id="41" name="TextBox 41"/>
              <p:cNvSpPr txBox="1"/>
              <p:nvPr/>
            </p:nvSpPr>
            <p:spPr>
              <a:xfrm>
                <a:off x="5099304" y="274320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公共企业列表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556830" y="2743200"/>
                <a:ext cx="2787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100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242554" y="2743200"/>
                <a:ext cx="17065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1324 RPS · p99 100ms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0585704" y="2743200"/>
                <a:ext cx="3998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100%</a:t>
                </a:r>
              </a:p>
            </p:txBody>
          </p:sp>
          <p:sp>
            <p:nvSpPr>
              <p:cNvPr id="45" name="Line 45"/>
              <p:cNvSpPr/>
              <p:nvPr/>
            </p:nvSpPr>
            <p:spPr>
              <a:xfrm>
                <a:off x="4953000" y="3028950"/>
                <a:ext cx="6553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553200" h="9525">
                    <a:moveTo>
                      <a:pt x="0" y="0"/>
                    </a:moveTo>
                    <a:lnTo>
                      <a:pt x="65532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52" name="perf-row-3"/>
            <p:cNvGrpSpPr/>
            <p:nvPr/>
          </p:nvGrpSpPr>
          <p:grpSpPr>
            <a:xfrm>
              <a:off x="4953000" y="3238500"/>
              <a:ext cx="6553200" cy="295275"/>
              <a:chOff x="4953000" y="3238500"/>
              <a:chExt cx="6553200" cy="295275"/>
            </a:xfrm>
          </p:grpSpPr>
          <p:sp>
            <p:nvSpPr>
              <p:cNvPr id="47" name="TextBox 47"/>
              <p:cNvSpPr txBox="1"/>
              <p:nvPr/>
            </p:nvSpPr>
            <p:spPr>
              <a:xfrm>
                <a:off x="5099304" y="323850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认证记录列表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601255" y="323850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50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242554" y="3238500"/>
                <a:ext cx="72054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1094 RPS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0585704" y="3238500"/>
                <a:ext cx="3998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100%</a:t>
                </a:r>
              </a:p>
            </p:txBody>
          </p:sp>
          <p:sp>
            <p:nvSpPr>
              <p:cNvPr id="51" name="Line 51"/>
              <p:cNvSpPr/>
              <p:nvPr/>
            </p:nvSpPr>
            <p:spPr>
              <a:xfrm>
                <a:off x="4953000" y="3524250"/>
                <a:ext cx="6553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553200" h="9525">
                    <a:moveTo>
                      <a:pt x="0" y="0"/>
                    </a:moveTo>
                    <a:lnTo>
                      <a:pt x="65532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58" name="perf-row-4"/>
            <p:cNvGrpSpPr/>
            <p:nvPr/>
          </p:nvGrpSpPr>
          <p:grpSpPr>
            <a:xfrm>
              <a:off x="4953000" y="3733800"/>
              <a:ext cx="6553200" cy="295275"/>
              <a:chOff x="4953000" y="3733800"/>
              <a:chExt cx="6553200" cy="295275"/>
            </a:xfrm>
          </p:grpSpPr>
          <p:sp>
            <p:nvSpPr>
              <p:cNvPr id="53" name="TextBox 53"/>
              <p:cNvSpPr txBox="1"/>
              <p:nvPr/>
            </p:nvSpPr>
            <p:spPr>
              <a:xfrm>
                <a:off x="5099304" y="373380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监管统计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601255" y="373380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242554" y="3733800"/>
                <a:ext cx="72054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1234 RPS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0585704" y="3733800"/>
                <a:ext cx="3998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100%</a:t>
                </a:r>
              </a:p>
            </p:txBody>
          </p:sp>
          <p:sp>
            <p:nvSpPr>
              <p:cNvPr id="57" name="Line 57"/>
              <p:cNvSpPr/>
              <p:nvPr/>
            </p:nvSpPr>
            <p:spPr>
              <a:xfrm>
                <a:off x="4953000" y="4019550"/>
                <a:ext cx="6553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553200" h="9525">
                    <a:moveTo>
                      <a:pt x="0" y="0"/>
                    </a:moveTo>
                    <a:lnTo>
                      <a:pt x="65532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64" name="perf-row-5"/>
            <p:cNvGrpSpPr/>
            <p:nvPr/>
          </p:nvGrpSpPr>
          <p:grpSpPr>
            <a:xfrm>
              <a:off x="4953000" y="4229100"/>
              <a:ext cx="6553200" cy="295275"/>
              <a:chOff x="4953000" y="4229100"/>
              <a:chExt cx="6553200" cy="295275"/>
            </a:xfrm>
          </p:grpSpPr>
          <p:sp>
            <p:nvSpPr>
              <p:cNvPr id="59" name="TextBox 59"/>
              <p:cNvSpPr txBox="1"/>
              <p:nvPr/>
            </p:nvSpPr>
            <p:spPr>
              <a:xfrm>
                <a:off x="5099304" y="422910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登录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601255" y="422910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242554" y="4229100"/>
                <a:ext cx="152384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158 RPS · p99 77ms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10585704" y="4229100"/>
                <a:ext cx="55534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BCrypt</a:t>
                </a:r>
              </a:p>
            </p:txBody>
          </p:sp>
          <p:sp>
            <p:nvSpPr>
              <p:cNvPr id="63" name="Line 63"/>
              <p:cNvSpPr/>
              <p:nvPr/>
            </p:nvSpPr>
            <p:spPr>
              <a:xfrm>
                <a:off x="4953000" y="4514850"/>
                <a:ext cx="6553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553200" h="9525">
                    <a:moveTo>
                      <a:pt x="0" y="0"/>
                    </a:moveTo>
                    <a:lnTo>
                      <a:pt x="65532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70" name="perf-row-6"/>
            <p:cNvGrpSpPr/>
            <p:nvPr/>
          </p:nvGrpSpPr>
          <p:grpSpPr>
            <a:xfrm>
              <a:off x="4953000" y="4724400"/>
              <a:ext cx="6553200" cy="295275"/>
              <a:chOff x="4953000" y="4724400"/>
              <a:chExt cx="6553200" cy="295275"/>
            </a:xfrm>
          </p:grpSpPr>
          <p:sp>
            <p:nvSpPr>
              <p:cNvPr id="65" name="TextBox 65"/>
              <p:cNvSpPr txBox="1"/>
              <p:nvPr/>
            </p:nvSpPr>
            <p:spPr>
              <a:xfrm>
                <a:off x="5099304" y="472440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链上统计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7601255" y="472440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40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8242554" y="4724400"/>
                <a:ext cx="179793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14.5 RPS · p95 2982ms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0585704" y="472440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链读</a:t>
                </a:r>
              </a:p>
            </p:txBody>
          </p:sp>
          <p:sp>
            <p:nvSpPr>
              <p:cNvPr id="69" name="Line 69"/>
              <p:cNvSpPr/>
              <p:nvPr/>
            </p:nvSpPr>
            <p:spPr>
              <a:xfrm>
                <a:off x="4953000" y="5010150"/>
                <a:ext cx="6553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553200" h="9525">
                    <a:moveTo>
                      <a:pt x="0" y="0"/>
                    </a:moveTo>
                    <a:lnTo>
                      <a:pt x="65532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75" name="perf-row-7"/>
            <p:cNvGrpSpPr/>
            <p:nvPr/>
          </p:nvGrpSpPr>
          <p:grpSpPr>
            <a:xfrm>
              <a:off x="5099304" y="5219700"/>
              <a:ext cx="5942838" cy="234696"/>
              <a:chOff x="5099304" y="5219700"/>
              <a:chExt cx="5942838" cy="234696"/>
            </a:xfrm>
          </p:grpSpPr>
          <p:sp>
            <p:nvSpPr>
              <p:cNvPr id="71" name="TextBox 71"/>
              <p:cNvSpPr txBox="1"/>
              <p:nvPr/>
            </p:nvSpPr>
            <p:spPr>
              <a:xfrm>
                <a:off x="5099304" y="521970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并发填报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7601255" y="521970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12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8242554" y="5219700"/>
                <a:ext cx="11510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17.3s 全部完成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10585704" y="5219700"/>
                <a:ext cx="4564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12/12</a:t>
                </a:r>
              </a:p>
            </p:txBody>
          </p:sp>
        </p:grpSp>
      </p:grpSp>
      <p:grpSp>
        <p:nvGrpSpPr>
          <p:cNvPr id="80" name="perf-conclusion"/>
          <p:cNvGrpSpPr/>
          <p:nvPr/>
        </p:nvGrpSpPr>
        <p:grpSpPr>
          <a:xfrm>
            <a:off x="685800" y="5753100"/>
            <a:ext cx="10820400" cy="419100"/>
            <a:chOff x="685800" y="5753100"/>
            <a:chExt cx="10820400" cy="419100"/>
          </a:xfrm>
        </p:grpSpPr>
        <p:sp>
          <p:nvSpPr>
            <p:cNvPr id="77" name="Rectangle 77"/>
            <p:cNvSpPr/>
            <p:nvPr/>
          </p:nvSpPr>
          <p:spPr>
            <a:xfrm>
              <a:off x="685800" y="5753100"/>
              <a:ext cx="108204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07542" y="5864225"/>
              <a:ext cx="45352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业务读 1300+ RPS；链读 15–17 RPS；链写约 2 秒/笔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656064" y="587692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上限在联盟链签名交易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679704" y="6515100"/>
            <a:ext cx="10832592" cy="234696"/>
            <a:chOff x="679704" y="6515100"/>
            <a:chExt cx="10832592" cy="234696"/>
          </a:xfrm>
        </p:grpSpPr>
        <p:sp>
          <p:nvSpPr>
            <p:cNvPr id="81" name="TextBox 81"/>
            <p:cNvSpPr txBox="1"/>
            <p:nvPr/>
          </p:nvSpPr>
          <p:spPr>
            <a:xfrm>
              <a:off x="679704" y="6515100"/>
              <a:ext cx="4083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压测期间日志无新增 ERROR，后端内存 461MB → 560MB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322406" y="65151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69798" y="558800"/>
            <a:ext cx="4696587" cy="933577"/>
            <a:chOff x="669798" y="558800"/>
            <a:chExt cx="4696587" cy="93357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58800"/>
              <a:ext cx="1330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12 / 验收结论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6300"/>
              <a:ext cx="46965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可验收，</a:t>
              </a:r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但边界要说清楚</a:t>
              </a:r>
            </a:p>
          </p:txBody>
        </p:sp>
      </p:grpSp>
      <p:grpSp>
        <p:nvGrpSpPr>
          <p:cNvPr id="21" name="acceptance"/>
          <p:cNvGrpSpPr/>
          <p:nvPr/>
        </p:nvGrpSpPr>
        <p:grpSpPr>
          <a:xfrm>
            <a:off x="669798" y="1854200"/>
            <a:ext cx="10836402" cy="1298575"/>
            <a:chOff x="669798" y="1854200"/>
            <a:chExt cx="10836402" cy="1298575"/>
          </a:xfrm>
        </p:grpSpPr>
        <p:grpSp>
          <p:nvGrpSpPr>
            <p:cNvPr id="9" name="accept-1"/>
            <p:cNvGrpSpPr/>
            <p:nvPr/>
          </p:nvGrpSpPr>
          <p:grpSpPr>
            <a:xfrm>
              <a:off x="669798" y="1854200"/>
              <a:ext cx="3176778" cy="1045083"/>
              <a:chOff x="669798" y="1854200"/>
              <a:chExt cx="3176778" cy="1045083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669798" y="1854200"/>
                <a:ext cx="521785" cy="6160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1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286256" y="197485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业务闭环完整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288542" y="2368550"/>
                <a:ext cx="25580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填报、审核、认证、作废、核验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288542" y="2635250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均有真实数据与接口</a:t>
                </a:r>
              </a:p>
            </p:txBody>
          </p:sp>
        </p:grpSp>
        <p:grpSp>
          <p:nvGrpSpPr>
            <p:cNvPr id="14" name="accept-2"/>
            <p:cNvGrpSpPr/>
            <p:nvPr/>
          </p:nvGrpSpPr>
          <p:grpSpPr>
            <a:xfrm>
              <a:off x="4289298" y="1854200"/>
              <a:ext cx="3594773" cy="1045083"/>
              <a:chOff x="4289298" y="1854200"/>
              <a:chExt cx="3594773" cy="1045083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4289298" y="1854200"/>
                <a:ext cx="521785" cy="6160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1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905756" y="197485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链上可信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908042" y="2368550"/>
                <a:ext cx="18946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52 张存证、278 个区块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908042" y="2635250"/>
                <a:ext cx="29760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有效 / 撤销 / 作废与业务库对账一致</a:t>
                </a:r>
              </a:p>
            </p:txBody>
          </p:sp>
        </p:grpSp>
        <p:grpSp>
          <p:nvGrpSpPr>
            <p:cNvPr id="19" name="accept-3"/>
            <p:cNvGrpSpPr/>
            <p:nvPr/>
          </p:nvGrpSpPr>
          <p:grpSpPr>
            <a:xfrm>
              <a:off x="7908798" y="1854200"/>
              <a:ext cx="2876912" cy="1045083"/>
              <a:chOff x="7908798" y="1854200"/>
              <a:chExt cx="2876912" cy="1045083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7908798" y="1854200"/>
                <a:ext cx="521785" cy="6160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1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525256" y="197485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工程可复现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527542" y="2368550"/>
                <a:ext cx="22581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systemd 全托管、一键启动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527542" y="2635250"/>
                <a:ext cx="158574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62 + 49 项回归通过</a:t>
                </a:r>
              </a:p>
            </p:txBody>
          </p:sp>
        </p:grpSp>
        <p:sp>
          <p:nvSpPr>
            <p:cNvPr id="20" name="Line 20"/>
            <p:cNvSpPr/>
            <p:nvPr/>
          </p:nvSpPr>
          <p:spPr>
            <a:xfrm>
              <a:off x="685800" y="31432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7" name="boundaries"/>
          <p:cNvGrpSpPr/>
          <p:nvPr/>
        </p:nvGrpSpPr>
        <p:grpSpPr>
          <a:xfrm>
            <a:off x="676656" y="3784600"/>
            <a:ext cx="3859740" cy="1876933"/>
            <a:chOff x="676656" y="3784600"/>
            <a:chExt cx="3859740" cy="1876933"/>
          </a:xfrm>
        </p:grpSpPr>
        <p:sp>
          <p:nvSpPr>
            <p:cNvPr id="22" name="TextBox 22"/>
            <p:cNvSpPr txBox="1"/>
            <p:nvPr/>
          </p:nvSpPr>
          <p:spPr>
            <a:xfrm>
              <a:off x="676656" y="37846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三条边界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8942" y="4273550"/>
              <a:ext cx="3857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合约不可原地升级，采用部署新合约 + 迁移数据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8942" y="459740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建库脚本仍保留已下线链表，需按现状更新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8942" y="492125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演示账号统一弱密码，尚未强制首次改密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8942" y="539750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边界不是缺陷，是下一阶段的输入</a:t>
              </a:r>
            </a:p>
          </p:txBody>
        </p:sp>
      </p:grpSp>
      <p:grpSp>
        <p:nvGrpSpPr>
          <p:cNvPr id="32" name="next-steps"/>
          <p:cNvGrpSpPr/>
          <p:nvPr/>
        </p:nvGrpSpPr>
        <p:grpSpPr>
          <a:xfrm>
            <a:off x="7801356" y="3784600"/>
            <a:ext cx="2378583" cy="1400683"/>
            <a:chOff x="7801356" y="3784600"/>
            <a:chExt cx="2378583" cy="1400683"/>
          </a:xfrm>
        </p:grpSpPr>
        <p:sp>
          <p:nvSpPr>
            <p:cNvPr id="28" name="TextBox 28"/>
            <p:cNvSpPr txBox="1"/>
            <p:nvPr/>
          </p:nvSpPr>
          <p:spPr>
            <a:xfrm>
              <a:off x="7801356" y="378460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两条下一步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03642" y="42735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代理合约与版本化迁移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03642" y="459740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链上事件索引服务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03642" y="492125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支撑大数据量检索与审计报表</a:t>
              </a:r>
            </a:p>
          </p:txBody>
        </p:sp>
      </p:grpSp>
      <p:grpSp>
        <p:nvGrpSpPr>
          <p:cNvPr id="35" name="closing"/>
          <p:cNvGrpSpPr/>
          <p:nvPr/>
        </p:nvGrpSpPr>
        <p:grpSpPr>
          <a:xfrm>
            <a:off x="673608" y="5899150"/>
            <a:ext cx="10838688" cy="469392"/>
            <a:chOff x="673608" y="5899150"/>
            <a:chExt cx="10838688" cy="469392"/>
          </a:xfrm>
        </p:grpSpPr>
        <p:sp>
          <p:nvSpPr>
            <p:cNvPr id="33" name="TextBox 33"/>
            <p:cNvSpPr txBox="1"/>
            <p:nvPr/>
          </p:nvSpPr>
          <p:spPr>
            <a:xfrm>
              <a:off x="673608" y="5899150"/>
              <a:ext cx="48707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认证结论不靠自证，靠链上可查。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92312" y="603885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链上负责不可篡改，业务库负责运营效率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679704" y="6438900"/>
            <a:ext cx="10832592" cy="329946"/>
            <a:chOff x="679704" y="6438900"/>
            <a:chExt cx="10832592" cy="329946"/>
          </a:xfrm>
        </p:grpSpPr>
        <p:sp>
          <p:nvSpPr>
            <p:cNvPr id="36" name="Line 36"/>
            <p:cNvSpPr/>
            <p:nvPr/>
          </p:nvSpPr>
          <p:spPr>
            <a:xfrm>
              <a:off x="685800" y="6438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9704" y="6534150"/>
              <a:ext cx="34288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碳链通 · 企业碳排放认证与溯源系统 · 2026-10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322406" y="65341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8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arbon-trace-ppt">
  <a:themeElements>
    <a:clrScheme name="carbon-trace-ppt">
      <a:dk1>
        <a:srgbClr val="14231B"/>
      </a:dk1>
      <a:lt1>
        <a:srgbClr val="F4F6F2"/>
      </a:lt1>
      <a:dk2>
        <a:srgbClr val="1F497D"/>
      </a:dk2>
      <a:lt2>
        <a:srgbClr val="FFFFFF"/>
      </a:lt2>
      <a:accent1>
        <a:srgbClr val="0D6B4F"/>
      </a:accent1>
      <a:accent2>
        <a:srgbClr val="B47F25"/>
      </a:accent2>
      <a:accent3>
        <a:srgbClr val="1F8A70"/>
      </a:accent3>
      <a:accent4>
        <a:srgbClr val="0D6B4F"/>
      </a:accent4>
      <a:accent5>
        <a:srgbClr val="5F7067"/>
      </a:accent5>
      <a:accent6>
        <a:srgbClr val="D9E2DC"/>
      </a:accent6>
      <a:hlink>
        <a:srgbClr val="B47F25"/>
      </a:hlink>
      <a:folHlink>
        <a:srgbClr val="1F8A70"/>
      </a:folHlink>
    </a:clrScheme>
    <a:fontScheme name="carbon-trace-p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arbon-trace-p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arbon-trace-ppt">
  <a:themeElements>
    <a:clrScheme name="carbon-trace-ppt">
      <a:dk1>
        <a:srgbClr val="14231B"/>
      </a:dk1>
      <a:lt1>
        <a:srgbClr val="F4F6F2"/>
      </a:lt1>
      <a:dk2>
        <a:srgbClr val="1F497D"/>
      </a:dk2>
      <a:lt2>
        <a:srgbClr val="FFFFFF"/>
      </a:lt2>
      <a:accent1>
        <a:srgbClr val="0D6B4F"/>
      </a:accent1>
      <a:accent2>
        <a:srgbClr val="B47F25"/>
      </a:accent2>
      <a:accent3>
        <a:srgbClr val="1F8A70"/>
      </a:accent3>
      <a:accent4>
        <a:srgbClr val="0D6B4F"/>
      </a:accent4>
      <a:accent5>
        <a:srgbClr val="5F7067"/>
      </a:accent5>
      <a:accent6>
        <a:srgbClr val="D9E2DC"/>
      </a:accent6>
      <a:hlink>
        <a:srgbClr val="B47F25"/>
      </a:hlink>
      <a:folHlink>
        <a:srgbClr val="1F8A70"/>
      </a:folHlink>
    </a:clrScheme>
    <a:fontScheme name="carbon-trace-p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arbon-trace-p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2026-10-24T15:38:10Z</dcterms:created>
  <dcterms:modified xsi:type="dcterms:W3CDTF">2026-10-24T15:38:10Z</dcterms:modified>
  <cp:category/>
  <cp:contentStatus/>
</cp:coreProperties>
</file>